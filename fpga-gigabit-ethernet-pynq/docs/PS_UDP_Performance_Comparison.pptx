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4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1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13648" y="128016"/>
            <a:ext cx="3575304" cy="6729984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786384"/>
            <a:ext cx="3291840" cy="274320"/>
          </a:xfrm>
          <a:prstGeom prst="roundRect">
            <a:avLst>
              <a:gd name="adj" fmla="val 10000"/>
            </a:avLst>
          </a:prstGeom>
          <a:solidFill>
            <a:srgbClr val="11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8952" y="804672"/>
            <a:ext cx="32004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 i="0">
                <a:solidFill>
                  <a:srgbClr val="10243A"/>
                </a:solidFill>
                <a:latin typeface="Aptos"/>
              </a:rPr>
              <a:t>PROJECT PROPOSAL  •  MEASUREMENT-DRIVEN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444752"/>
            <a:ext cx="68580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4200" b="1" i="0">
                <a:solidFill>
                  <a:srgbClr val="FFFFFF"/>
                </a:solidFill>
                <a:latin typeface="Aptos"/>
              </a:rPr>
              <a:t>PS vs 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77440"/>
            <a:ext cx="7406640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 i="0">
                <a:solidFill>
                  <a:srgbClr val="FFFFFF"/>
                </a:solidFill>
                <a:latin typeface="Aptos"/>
              </a:rPr>
              <a:t>UDP server performance on the</a:t>
            </a:r>
          </a:p>
          <a:p>
            <a:pPr algn="l">
              <a:spcAft>
                <a:spcPts val="300"/>
              </a:spcAft>
            </a:pPr>
            <a:r>
              <a:rPr sz="2900" b="1" i="0">
                <a:solidFill>
                  <a:srgbClr val="FFFFFF"/>
                </a:solidFill>
                <a:latin typeface="Aptos"/>
              </a:rPr>
              <a:t>PYNQ-Z2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3931920"/>
            <a:ext cx="713232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0" i="0">
                <a:solidFill>
                  <a:srgbClr val="58C8D2"/>
                </a:solidFill>
                <a:latin typeface="Aptos"/>
              </a:rPr>
              <a:t>Python per-packet baseline  vs  Linux C batched I/O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4498848"/>
            <a:ext cx="713232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D9E5EE"/>
                </a:solidFill>
                <a:latin typeface="Aptos"/>
              </a:rPr>
              <a:t>Same ARM processor • same PS GEM • same Ethernet jack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8" y="5340096"/>
            <a:ext cx="7269480" cy="45720"/>
          </a:xfrm>
          <a:prstGeom prst="rect">
            <a:avLst/>
          </a:prstGeom>
          <a:solidFill>
            <a:srgbClr val="11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5550408"/>
            <a:ext cx="70408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6D6E3"/>
                </a:solidFill>
                <a:latin typeface="Aptos"/>
              </a:rPr>
              <a:t>A fair, reproducible comparison—not a claimed result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79992" y="1152144"/>
            <a:ext cx="2523744" cy="1143000"/>
          </a:xfrm>
          <a:prstGeom prst="roundRect">
            <a:avLst>
              <a:gd name="adj" fmla="val 10000"/>
            </a:avLst>
          </a:prstGeom>
          <a:solidFill>
            <a:srgbClr val="2447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99448" y="1362456"/>
            <a:ext cx="20574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 i="0">
                <a:solidFill>
                  <a:srgbClr val="F2B84B"/>
                </a:solidFill>
                <a:latin typeface="Aptos"/>
              </a:rPr>
              <a:t>PYTHON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99448" y="1746504"/>
            <a:ext cx="20574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ptos"/>
              </a:rPr>
              <a:t>recvfrom + sendto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12680" y="2578608"/>
            <a:ext cx="6858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 i="0">
                <a:solidFill>
                  <a:srgbClr val="58C8D2"/>
                </a:solidFill>
                <a:latin typeface="Aptos"/>
              </a:rPr>
              <a:t>VS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3172968"/>
            <a:ext cx="2523744" cy="1143000"/>
          </a:xfrm>
          <a:prstGeom prst="roundRect">
            <a:avLst>
              <a:gd name="adj" fmla="val 10000"/>
            </a:avLst>
          </a:prstGeom>
          <a:solidFill>
            <a:srgbClr val="2447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99448" y="3383280"/>
            <a:ext cx="20574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 i="0">
                <a:solidFill>
                  <a:srgbClr val="11B5A4"/>
                </a:solidFill>
                <a:latin typeface="Aptos"/>
              </a:rPr>
              <a:t>C BATCHED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08008" y="3767328"/>
            <a:ext cx="22860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0" i="0">
                <a:solidFill>
                  <a:srgbClr val="FFFFFF"/>
                </a:solidFill>
                <a:latin typeface="Aptos"/>
              </a:rPr>
              <a:t>recvmmsg + sendmmsg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4901184"/>
            <a:ext cx="2834640" cy="6766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 i="0">
                <a:solidFill>
                  <a:srgbClr val="D9E5EE"/>
                </a:solidFill>
                <a:latin typeface="Aptos"/>
              </a:rPr>
              <a:t>One board. One network path.</a:t>
            </a:r>
          </a:p>
          <a:p>
            <a:pPr algn="ctr">
              <a:spcAft>
                <a:spcPts val="300"/>
              </a:spcAft>
            </a:pPr>
            <a:r>
              <a:rPr sz="1300" b="0" i="0">
                <a:solidFill>
                  <a:srgbClr val="D9E5EE"/>
                </a:solidFill>
                <a:latin typeface="Aptos"/>
              </a:rPr>
              <a:t>Change only the server strategy.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" y="6428232"/>
            <a:ext cx="69494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A9BDCC"/>
                </a:solidFill>
                <a:latin typeface="Aptos"/>
              </a:rPr>
              <a:t>PYNQ-Z2 | Zynq-7000 PS | Linux UDP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1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38404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 i="0">
                <a:solidFill>
                  <a:srgbClr val="11B5A4"/>
                </a:solidFill>
                <a:latin typeface="Aptos"/>
              </a:rPr>
              <a:t>01  |  FRAMING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110996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500" b="1" i="0">
                <a:solidFill>
                  <a:srgbClr val="10243A"/>
                </a:solidFill>
                <a:latin typeface="Aptos"/>
              </a:rPr>
              <a:t>Project in one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15568"/>
            <a:ext cx="109728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637487"/>
                </a:solidFill>
                <a:latin typeface="Aptos"/>
              </a:rPr>
              <a:t>A practical PS-vs-PS experiment using the PYNQ-Z2 hardware you already have.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492240"/>
            <a:ext cx="11183112" cy="0"/>
          </a:xfrm>
          <a:prstGeom prst="line">
            <a:avLst/>
          </a:prstGeom>
          <a:ln w="10160">
            <a:solidFill>
              <a:srgbClr val="D8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547104"/>
            <a:ext cx="69494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637487"/>
                </a:solidFill>
                <a:latin typeface="Aptos"/>
              </a:rPr>
              <a:t>PYNQ-Z2  |  PS UDP performance study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3968" y="6528816"/>
            <a:ext cx="4572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637487"/>
                </a:solidFill>
                <a:latin typeface="Aptos"/>
              </a:rPr>
              <a:t>02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" y="1627632"/>
            <a:ext cx="3456432" cy="18470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D8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1627632"/>
            <a:ext cx="64008" cy="1847088"/>
          </a:xfrm>
          <a:prstGeom prst="rect">
            <a:avLst/>
          </a:prstGeom>
          <a:solidFill>
            <a:srgbClr val="11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773936"/>
            <a:ext cx="3127248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10243A"/>
                </a:solidFill>
                <a:latin typeface="Aptos"/>
              </a:rPr>
              <a:t>THE BOARD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139696"/>
            <a:ext cx="3127248" cy="1225295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637487"/>
                </a:solidFill>
                <a:latin typeface="Aptos"/>
              </a:rPr>
              <a:t>The built-in RTL8211E Ethernet jack connects to the Zynq PS GEM through MIO. Linux on the ARM runs the network stack.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0832" y="1627632"/>
            <a:ext cx="3456432" cy="18470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D8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0832" y="1627632"/>
            <a:ext cx="64008" cy="1847088"/>
          </a:xfrm>
          <a:prstGeom prst="rect">
            <a:avLst/>
          </a:prstGeom>
          <a:solidFill>
            <a:srgbClr val="F2B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53712" y="1773936"/>
            <a:ext cx="3127248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10243A"/>
                </a:solidFill>
                <a:latin typeface="Aptos"/>
              </a:rPr>
              <a:t>THE COMPARISON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3712" y="2139696"/>
            <a:ext cx="3127248" cy="1225295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637487"/>
                </a:solidFill>
                <a:latin typeface="Aptos"/>
              </a:rPr>
              <a:t>Baseline: Python recvfrom/sendto per datagram. Candidate: C recvmmsg/sendmmsg, batching up to 32.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9872" y="1627632"/>
            <a:ext cx="3456432" cy="18470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D8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9872" y="1627632"/>
            <a:ext cx="64008" cy="1847088"/>
          </a:xfrm>
          <a:prstGeom prst="rect">
            <a:avLst/>
          </a:prstGeom>
          <a:solidFill>
            <a:srgbClr val="58C8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2752" y="1773936"/>
            <a:ext cx="3127248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10243A"/>
                </a:solidFill>
                <a:latin typeface="Aptos"/>
              </a:rPr>
              <a:t>THE CLAIM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2752" y="2139696"/>
            <a:ext cx="3127248" cy="1225295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637487"/>
                </a:solidFill>
                <a:latin typeface="Aptos"/>
              </a:rPr>
              <a:t>Does batched Linux socket I/O improve measured UDP echo performance on this board, and what happens to loss, latency, and CPU?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" y="3831336"/>
            <a:ext cx="10954512" cy="1280160"/>
          </a:xfrm>
          <a:prstGeom prst="roundRect">
            <a:avLst>
              <a:gd name="adj" fmla="val 10000"/>
            </a:avLst>
          </a:prstGeom>
          <a:solidFill>
            <a:srgbClr val="10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4050791"/>
            <a:ext cx="19385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58C8D2"/>
                </a:solidFill>
                <a:latin typeface="Aptos"/>
              </a:rPr>
              <a:t>Important boundary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0360" y="3986784"/>
            <a:ext cx="8293608" cy="49377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 i="0">
                <a:solidFill>
                  <a:srgbClr val="FFFFFF"/>
                </a:solidFill>
                <a:latin typeface="Aptos"/>
              </a:rPr>
              <a:t>Both versions run on the PS. The PL is not carrying Ethernet traffic in this selected project.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" y="5458968"/>
            <a:ext cx="104241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637487"/>
                </a:solidFill>
                <a:latin typeface="Aptos"/>
              </a:rPr>
              <a:t>This keeps the comparison testable on the onboard jack and avoids claiming unavailable PL connectivity.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1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38404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 i="0">
                <a:solidFill>
                  <a:srgbClr val="11B5A4"/>
                </a:solidFill>
                <a:latin typeface="Aptos"/>
              </a:rPr>
              <a:t>01  |  SYSTEM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110996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500" b="1" i="0">
                <a:solidFill>
                  <a:srgbClr val="10243A"/>
                </a:solidFill>
                <a:latin typeface="Aptos"/>
              </a:rPr>
              <a:t>Where the packets actually 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15568"/>
            <a:ext cx="109728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637487"/>
                </a:solidFill>
                <a:latin typeface="Aptos"/>
              </a:rPr>
              <a:t>The built-in connector is real hardware; only the server implementation changes.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492240"/>
            <a:ext cx="11183112" cy="0"/>
          </a:xfrm>
          <a:prstGeom prst="line">
            <a:avLst/>
          </a:prstGeom>
          <a:ln w="10160">
            <a:solidFill>
              <a:srgbClr val="D8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547104"/>
            <a:ext cx="69494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637487"/>
                </a:solidFill>
                <a:latin typeface="Aptos"/>
              </a:rPr>
              <a:t>PYNQ-Z2  |  PS UDP performance study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3968" y="6528816"/>
            <a:ext cx="4572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637487"/>
                </a:solidFill>
                <a:latin typeface="Aptos"/>
              </a:rPr>
              <a:t>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72" y="2176272"/>
            <a:ext cx="2103120" cy="13167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D8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22376" y="2304288"/>
            <a:ext cx="475488" cy="274320"/>
          </a:xfrm>
          <a:prstGeom prst="roundRect">
            <a:avLst>
              <a:gd name="adj" fmla="val 10000"/>
            </a:avLst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322576"/>
            <a:ext cx="38404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670048"/>
            <a:ext cx="1828799" cy="2834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10243A"/>
                </a:solidFill>
                <a:latin typeface="Aptos"/>
              </a:rPr>
              <a:t>Host PC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" y="3008376"/>
            <a:ext cx="1810511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0" i="0">
                <a:solidFill>
                  <a:srgbClr val="637487"/>
                </a:solidFill>
                <a:latin typeface="Aptos"/>
              </a:rPr>
              <a:t>Python benchmark</a:t>
            </a:r>
          </a:p>
          <a:p>
            <a:pPr algn="ctr">
              <a:spcAft>
                <a:spcPts val="300"/>
              </a:spcAft>
            </a:pPr>
            <a:r>
              <a:rPr sz="1100" b="0" i="0">
                <a:solidFill>
                  <a:srgbClr val="637487"/>
                </a:solidFill>
                <a:latin typeface="Aptos"/>
              </a:rPr>
              <a:t>creates UDP datagrams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92908" y="2834640"/>
            <a:ext cx="150876" cy="0"/>
          </a:xfrm>
          <a:prstGeom prst="line">
            <a:avLst/>
          </a:prstGeom>
          <a:ln w="21590">
            <a:solidFill>
              <a:srgbClr val="11B5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871215" y="2176272"/>
            <a:ext cx="2103120" cy="13167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D8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017520" y="2304288"/>
            <a:ext cx="475488" cy="274320"/>
          </a:xfrm>
          <a:prstGeom prst="roundRect">
            <a:avLst>
              <a:gd name="adj" fmla="val 10000"/>
            </a:avLst>
          </a:prstGeom>
          <a:solidFill>
            <a:srgbClr val="11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63239" y="2322576"/>
            <a:ext cx="38404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08375" y="2670048"/>
            <a:ext cx="1828799" cy="2834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10243A"/>
                </a:solidFill>
                <a:latin typeface="Aptos"/>
              </a:rPr>
              <a:t>Ethernet link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3008376"/>
            <a:ext cx="1810511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0" i="0">
                <a:solidFill>
                  <a:srgbClr val="637487"/>
                </a:solidFill>
                <a:latin typeface="Aptos"/>
              </a:rPr>
              <a:t>RJ45 cable +</a:t>
            </a:r>
          </a:p>
          <a:p>
            <a:pPr algn="ctr">
              <a:spcAft>
                <a:spcPts val="300"/>
              </a:spcAft>
            </a:pPr>
            <a:r>
              <a:rPr sz="1100" b="0" i="0">
                <a:solidFill>
                  <a:srgbClr val="637487"/>
                </a:solidFill>
                <a:latin typeface="Aptos"/>
              </a:rPr>
              <a:t>switch (if used)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988051" y="2834640"/>
            <a:ext cx="150876" cy="0"/>
          </a:xfrm>
          <a:prstGeom prst="line">
            <a:avLst/>
          </a:prstGeom>
          <a:ln w="21590">
            <a:solidFill>
              <a:srgbClr val="11B5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166359" y="2176272"/>
            <a:ext cx="2103120" cy="13167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D8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312664" y="2304288"/>
            <a:ext cx="475488" cy="274320"/>
          </a:xfrm>
          <a:prstGeom prst="roundRect">
            <a:avLst>
              <a:gd name="adj" fmla="val 10000"/>
            </a:avLst>
          </a:prstGeom>
          <a:solidFill>
            <a:srgbClr val="58C8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58383" y="2322576"/>
            <a:ext cx="38404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 i="0">
                <a:solidFill>
                  <a:srgbClr val="10243A"/>
                </a:solidFill>
                <a:latin typeface="Aptos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0" y="2670048"/>
            <a:ext cx="1828799" cy="2834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10243A"/>
                </a:solidFill>
                <a:latin typeface="Aptos"/>
              </a:rPr>
              <a:t>PHY + PS GEM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12664" y="3008376"/>
            <a:ext cx="1810511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0" i="0">
                <a:solidFill>
                  <a:srgbClr val="637487"/>
                </a:solidFill>
                <a:latin typeface="Aptos"/>
              </a:rPr>
              <a:t>RTL8211E PHY →</a:t>
            </a:r>
          </a:p>
          <a:p>
            <a:pPr algn="ctr">
              <a:spcAft>
                <a:spcPts val="300"/>
              </a:spcAft>
            </a:pPr>
            <a:r>
              <a:rPr sz="1100" b="0" i="0">
                <a:solidFill>
                  <a:srgbClr val="637487"/>
                </a:solidFill>
                <a:latin typeface="Aptos"/>
              </a:rPr>
              <a:t>PS Ethernet MAC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283195" y="2834640"/>
            <a:ext cx="150877" cy="0"/>
          </a:xfrm>
          <a:prstGeom prst="line">
            <a:avLst/>
          </a:prstGeom>
          <a:ln w="21590">
            <a:solidFill>
              <a:srgbClr val="11B5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461504" y="2176272"/>
            <a:ext cx="2103120" cy="13167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D8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607808" y="2304288"/>
            <a:ext cx="475488" cy="274320"/>
          </a:xfrm>
          <a:prstGeom prst="roundRect">
            <a:avLst>
              <a:gd name="adj" fmla="val 10000"/>
            </a:avLst>
          </a:prstGeom>
          <a:solidFill>
            <a:srgbClr val="F2B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53528" y="2322576"/>
            <a:ext cx="38404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98664" y="2670048"/>
            <a:ext cx="1828799" cy="2834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10243A"/>
                </a:solidFill>
                <a:latin typeface="Aptos"/>
              </a:rPr>
              <a:t>Linux network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07808" y="3008376"/>
            <a:ext cx="1810511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0" i="0">
                <a:solidFill>
                  <a:srgbClr val="637487"/>
                </a:solidFill>
                <a:latin typeface="Aptos"/>
              </a:rPr>
              <a:t>Driver + IP/UDP</a:t>
            </a:r>
          </a:p>
          <a:p>
            <a:pPr algn="ctr">
              <a:spcAft>
                <a:spcPts val="300"/>
              </a:spcAft>
            </a:pPr>
            <a:r>
              <a:rPr sz="1100" b="0" i="0">
                <a:solidFill>
                  <a:srgbClr val="637487"/>
                </a:solidFill>
                <a:latin typeface="Aptos"/>
              </a:rPr>
              <a:t>kernel stack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578340" y="2834640"/>
            <a:ext cx="150876" cy="0"/>
          </a:xfrm>
          <a:prstGeom prst="line">
            <a:avLst/>
          </a:prstGeom>
          <a:ln w="21590">
            <a:solidFill>
              <a:srgbClr val="11B5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756648" y="2176272"/>
            <a:ext cx="2103120" cy="13167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D8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9902952" y="2304288"/>
            <a:ext cx="475488" cy="274320"/>
          </a:xfrm>
          <a:prstGeom prst="roundRect">
            <a:avLst>
              <a:gd name="adj" fmla="val 10000"/>
            </a:avLst>
          </a:prstGeom>
          <a:solidFill>
            <a:srgbClr val="47B8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948672" y="2322576"/>
            <a:ext cx="38404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93808" y="2670048"/>
            <a:ext cx="1828799" cy="2834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10243A"/>
                </a:solidFill>
                <a:latin typeface="Aptos"/>
              </a:rPr>
              <a:t>Server process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02952" y="3008376"/>
            <a:ext cx="1810511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0" i="0">
                <a:solidFill>
                  <a:srgbClr val="637487"/>
                </a:solidFill>
                <a:latin typeface="Aptos"/>
              </a:rPr>
              <a:t>Python baseline OR</a:t>
            </a:r>
          </a:p>
          <a:p>
            <a:pPr algn="ctr">
              <a:spcAft>
                <a:spcPts val="300"/>
              </a:spcAft>
            </a:pPr>
            <a:r>
              <a:rPr sz="1100" b="0" i="0">
                <a:solidFill>
                  <a:srgbClr val="637487"/>
                </a:solidFill>
                <a:latin typeface="Aptos"/>
              </a:rPr>
              <a:t>C batched candidate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33271" y="4023360"/>
            <a:ext cx="10094976" cy="1078992"/>
          </a:xfrm>
          <a:prstGeom prst="roundRect">
            <a:avLst>
              <a:gd name="adj" fmla="val 10000"/>
            </a:avLst>
          </a:prstGeom>
          <a:solidFill>
            <a:srgbClr val="E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07592" y="4215384"/>
            <a:ext cx="2011680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1B5A4"/>
                </a:solidFill>
                <a:latin typeface="Aptos"/>
              </a:rPr>
              <a:t>Controlled path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46120" y="4187952"/>
            <a:ext cx="7415783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0243A"/>
                </a:solidFill>
                <a:latin typeface="Aptos"/>
              </a:rPr>
              <a:t>Same board • same PS GEM • same Linux kernel • same host test program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25880" y="4690872"/>
            <a:ext cx="93268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637487"/>
                </a:solidFill>
                <a:latin typeface="Aptos"/>
              </a:rPr>
              <a:t>The Ethernet hardware and kernel stack are controls—not the experiment.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1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38404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 i="0">
                <a:solidFill>
                  <a:srgbClr val="11B5A4"/>
                </a:solidFill>
                <a:latin typeface="Aptos"/>
              </a:rPr>
              <a:t>02  |  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110996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500" b="1" i="0">
                <a:solidFill>
                  <a:srgbClr val="10243A"/>
                </a:solidFill>
                <a:latin typeface="Aptos"/>
              </a:rPr>
              <a:t>Technical literature survey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15568"/>
            <a:ext cx="109728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637487"/>
                </a:solidFill>
                <a:latin typeface="Aptos"/>
              </a:rPr>
              <a:t>The sources support the design choices; they do not predetermine the result on this board.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492240"/>
            <a:ext cx="11183112" cy="0"/>
          </a:xfrm>
          <a:prstGeom prst="line">
            <a:avLst/>
          </a:prstGeom>
          <a:ln w="10160">
            <a:solidFill>
              <a:srgbClr val="D8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547104"/>
            <a:ext cx="69494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637487"/>
                </a:solidFill>
                <a:latin typeface="Aptos"/>
              </a:rPr>
              <a:t>PYNQ-Z2  |  PS UDP performance study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3968" y="6528816"/>
            <a:ext cx="4572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637487"/>
                </a:solidFill>
                <a:latin typeface="Aptos"/>
              </a:rPr>
              <a:t>04</a:t>
            </a:r>
          </a:p>
        </p:txBody>
      </p:sp>
      <p:sp>
        <p:nvSpPr>
          <p:cNvPr id="9" name="Rectangle 8"/>
          <p:cNvSpPr/>
          <p:nvPr/>
        </p:nvSpPr>
        <p:spPr>
          <a:xfrm>
            <a:off x="576072" y="1627632"/>
            <a:ext cx="2057400" cy="384048"/>
          </a:xfrm>
          <a:prstGeom prst="rect">
            <a:avLst/>
          </a:prstGeom>
          <a:solidFill>
            <a:srgbClr val="10243A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682496"/>
            <a:ext cx="1892807" cy="292607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Source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33472" y="1627632"/>
            <a:ext cx="4983480" cy="384048"/>
          </a:xfrm>
          <a:prstGeom prst="rect">
            <a:avLst/>
          </a:prstGeom>
          <a:solidFill>
            <a:srgbClr val="10243A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15768" y="1682496"/>
            <a:ext cx="4818888" cy="292607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Established point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16952" y="1627632"/>
            <a:ext cx="3886200" cy="384048"/>
          </a:xfrm>
          <a:prstGeom prst="rect">
            <a:avLst/>
          </a:prstGeom>
          <a:solidFill>
            <a:srgbClr val="10243A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99248" y="1682496"/>
            <a:ext cx="3721608" cy="292607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Design implication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6072" y="2011680"/>
            <a:ext cx="2057400" cy="640080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066544"/>
            <a:ext cx="1892807" cy="54864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D2B3A"/>
                </a:solidFill>
                <a:latin typeface="Aptos"/>
              </a:rPr>
              <a:t>Python socket docs [1]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33472" y="2011680"/>
            <a:ext cx="4983480" cy="640080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15768" y="2066544"/>
            <a:ext cx="4818888" cy="54864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D2B3A"/>
                </a:solidFill>
                <a:latin typeface="Aptos"/>
              </a:rPr>
              <a:t>Python exposes the standard socket API for UDP; it is a usable high-level baseline.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16952" y="2011680"/>
            <a:ext cx="3886200" cy="640080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99248" y="2066544"/>
            <a:ext cx="3721608" cy="54864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D2B3A"/>
                </a:solidFill>
                <a:latin typeface="Aptos"/>
              </a:rPr>
              <a:t>Keep socket semantics and packet bytes the same.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6072" y="2651760"/>
            <a:ext cx="2057400" cy="640080"/>
          </a:xfrm>
          <a:prstGeom prst="rect">
            <a:avLst/>
          </a:prstGeom>
          <a:solidFill>
            <a:srgbClr val="EAF2F8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706624"/>
            <a:ext cx="1892807" cy="54864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D2B3A"/>
                </a:solidFill>
                <a:latin typeface="Aptos"/>
              </a:rPr>
              <a:t>Linux recvmmsg [2]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633472" y="2651760"/>
            <a:ext cx="4983480" cy="640080"/>
          </a:xfrm>
          <a:prstGeom prst="rect">
            <a:avLst/>
          </a:prstGeom>
          <a:solidFill>
            <a:srgbClr val="EAF2F8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15768" y="2706624"/>
            <a:ext cx="4818888" cy="54864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D2B3A"/>
                </a:solidFill>
                <a:latin typeface="Aptos"/>
              </a:rPr>
              <a:t>One syscall can receive multiple messages; Linux documents potential application performance benefits.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16952" y="2651760"/>
            <a:ext cx="3886200" cy="640080"/>
          </a:xfrm>
          <a:prstGeom prst="rect">
            <a:avLst/>
          </a:prstGeom>
          <a:solidFill>
            <a:srgbClr val="EAF2F8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99248" y="2706624"/>
            <a:ext cx="3721608" cy="54864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D2B3A"/>
                </a:solidFill>
                <a:latin typeface="Aptos"/>
              </a:rPr>
              <a:t>Candidate receive path batches queued datagrams.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76072" y="3291840"/>
            <a:ext cx="2057400" cy="640080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3346704"/>
            <a:ext cx="1892807" cy="54864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D2B3A"/>
                </a:solidFill>
                <a:latin typeface="Aptos"/>
              </a:rPr>
              <a:t>Linux sendmmsg [3]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633472" y="3291840"/>
            <a:ext cx="4983480" cy="640080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15768" y="3346704"/>
            <a:ext cx="4818888" cy="54864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D2B3A"/>
                </a:solidFill>
                <a:latin typeface="Aptos"/>
              </a:rPr>
              <a:t>One syscall can submit multiple messages; partial sends must be handled.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616952" y="3291840"/>
            <a:ext cx="3886200" cy="640080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99248" y="3346704"/>
            <a:ext cx="3721608" cy="54864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D2B3A"/>
                </a:solidFill>
                <a:latin typeface="Aptos"/>
              </a:rPr>
              <a:t>Candidate transmit path retries unsent tail of a batch.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76072" y="3931920"/>
            <a:ext cx="2057400" cy="640080"/>
          </a:xfrm>
          <a:prstGeom prst="rect">
            <a:avLst/>
          </a:prstGeom>
          <a:solidFill>
            <a:srgbClr val="EAF2F8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" y="3986784"/>
            <a:ext cx="1892807" cy="54864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D2B3A"/>
                </a:solidFill>
                <a:latin typeface="Aptos"/>
              </a:rPr>
              <a:t>Linux NAPI docs [4]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633472" y="3931920"/>
            <a:ext cx="4983480" cy="640080"/>
          </a:xfrm>
          <a:prstGeom prst="rect">
            <a:avLst/>
          </a:prstGeom>
          <a:solidFill>
            <a:srgbClr val="EAF2F8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15768" y="3986784"/>
            <a:ext cx="4818888" cy="54864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D2B3A"/>
                </a:solidFill>
                <a:latin typeface="Aptos"/>
              </a:rPr>
              <a:t>NIC/kernel polling and interrupt moderation also affect batching and latency.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616952" y="3931920"/>
            <a:ext cx="3886200" cy="640080"/>
          </a:xfrm>
          <a:prstGeom prst="rect">
            <a:avLst/>
          </a:prstGeom>
          <a:solidFill>
            <a:srgbClr val="EAF2F8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99248" y="3986784"/>
            <a:ext cx="3721608" cy="54864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D2B3A"/>
                </a:solidFill>
                <a:latin typeface="Aptos"/>
              </a:rPr>
              <a:t>Keep kernel/link fixed; application batching is only one layer.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76072" y="4572000"/>
            <a:ext cx="2057400" cy="640080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8368" y="4626864"/>
            <a:ext cx="1892807" cy="54864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D2B3A"/>
                </a:solidFill>
                <a:latin typeface="Aptos"/>
              </a:rPr>
              <a:t>PYNQ docs [5]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33472" y="4572000"/>
            <a:ext cx="4983480" cy="640080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715768" y="4626864"/>
            <a:ext cx="4818888" cy="54864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D2B3A"/>
                </a:solidFill>
                <a:latin typeface="Aptos"/>
              </a:rPr>
              <a:t>PYNQ supports Python productivity and lower-level C when efficiency matters.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616952" y="4572000"/>
            <a:ext cx="3886200" cy="640080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699248" y="4626864"/>
            <a:ext cx="3721608" cy="54864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D2B3A"/>
                </a:solidFill>
                <a:latin typeface="Aptos"/>
              </a:rPr>
              <a:t>Motivates an embedded Python-versus-C comparison.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76072" y="5212080"/>
            <a:ext cx="2057400" cy="640080"/>
          </a:xfrm>
          <a:prstGeom prst="rect">
            <a:avLst/>
          </a:prstGeom>
          <a:solidFill>
            <a:srgbClr val="EAF2F8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5266944"/>
            <a:ext cx="1892807" cy="54864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D2B3A"/>
                </a:solidFill>
                <a:latin typeface="Aptos"/>
              </a:rPr>
              <a:t>RFC 2544 [6]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633472" y="5212080"/>
            <a:ext cx="4983480" cy="640080"/>
          </a:xfrm>
          <a:prstGeom prst="rect">
            <a:avLst/>
          </a:prstGeom>
          <a:solidFill>
            <a:srgbClr val="EAF2F8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15768" y="5266944"/>
            <a:ext cx="4818888" cy="54864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D2B3A"/>
                </a:solidFill>
                <a:latin typeface="Aptos"/>
              </a:rPr>
              <a:t>Comparable performance reports require defined tests and conditions.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616952" y="5212080"/>
            <a:ext cx="3886200" cy="640080"/>
          </a:xfrm>
          <a:prstGeom prst="rect">
            <a:avLst/>
          </a:prstGeom>
          <a:solidFill>
            <a:srgbClr val="EAF2F8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699248" y="5266944"/>
            <a:ext cx="3721608" cy="54864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D2B3A"/>
                </a:solidFill>
                <a:latin typeface="Aptos"/>
              </a:rPr>
              <a:t>Fix packet sizes, duration, run order, repetitions, and report metrics.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" y="6025896"/>
            <a:ext cx="1069848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1">
                <a:solidFill>
                  <a:srgbClr val="637487"/>
                </a:solidFill>
                <a:latin typeface="Aptos"/>
              </a:rPr>
              <a:t>Survey scope: official API / platform documentation + benchmarking guidance (not a claim of exhaustive academic review).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1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38404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 i="0">
                <a:solidFill>
                  <a:srgbClr val="11B5A4"/>
                </a:solidFill>
                <a:latin typeface="Aptos"/>
              </a:rPr>
              <a:t>02  |  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110996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500" b="1" i="0">
                <a:solidFill>
                  <a:srgbClr val="10243A"/>
                </a:solidFill>
                <a:latin typeface="Aptos"/>
              </a:rPr>
              <a:t>The project gap and research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15568"/>
            <a:ext cx="109728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637487"/>
                </a:solidFill>
                <a:latin typeface="Aptos"/>
              </a:rPr>
              <a:t>State the gap narrowly and defensibly: this is a target-board evaluation gap, not a claim that no one has studied batching.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492240"/>
            <a:ext cx="11183112" cy="0"/>
          </a:xfrm>
          <a:prstGeom prst="line">
            <a:avLst/>
          </a:prstGeom>
          <a:ln w="10160">
            <a:solidFill>
              <a:srgbClr val="D8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547104"/>
            <a:ext cx="69494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637487"/>
                </a:solidFill>
                <a:latin typeface="Aptos"/>
              </a:rPr>
              <a:t>PYNQ-Z2  |  PS UDP performance study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3968" y="6528816"/>
            <a:ext cx="4572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637487"/>
                </a:solidFill>
                <a:latin typeface="Aptos"/>
              </a:rPr>
              <a:t>05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719072"/>
            <a:ext cx="5029200" cy="182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D8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38528"/>
            <a:ext cx="448056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10243A"/>
                </a:solidFill>
                <a:latin typeface="Aptos"/>
              </a:rPr>
              <a:t>What documentation already gives us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2496312"/>
            <a:ext cx="91440" cy="91440"/>
          </a:xfrm>
          <a:prstGeom prst="roundRect">
            <a:avLst>
              <a:gd name="adj" fmla="val 10000"/>
            </a:avLst>
          </a:prstGeom>
          <a:solidFill>
            <a:srgbClr val="11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386584"/>
            <a:ext cx="4251959" cy="1889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D2B3A"/>
                </a:solidFill>
                <a:latin typeface="Aptos"/>
              </a:rPr>
              <a:t>APIs for ordinary and batched UDP I/O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2837688"/>
            <a:ext cx="91440" cy="91440"/>
          </a:xfrm>
          <a:prstGeom prst="roundRect">
            <a:avLst>
              <a:gd name="adj" fmla="val 10000"/>
            </a:avLst>
          </a:prstGeom>
          <a:solidFill>
            <a:srgbClr val="11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2727960"/>
            <a:ext cx="4251959" cy="1889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D2B3A"/>
                </a:solidFill>
                <a:latin typeface="Aptos"/>
              </a:rPr>
              <a:t>A plausible mechanism: fewer per-message syscalls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3179064"/>
            <a:ext cx="91440" cy="91440"/>
          </a:xfrm>
          <a:prstGeom prst="roundRect">
            <a:avLst>
              <a:gd name="adj" fmla="val 10000"/>
            </a:avLst>
          </a:prstGeom>
          <a:solidFill>
            <a:srgbClr val="11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3069336"/>
            <a:ext cx="4251959" cy="1889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D2B3A"/>
                </a:solidFill>
                <a:latin typeface="Aptos"/>
              </a:rPr>
              <a:t>Warnings that kernel/NIC behavior also shapes results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53328" y="1719072"/>
            <a:ext cx="5431536" cy="1828800"/>
          </a:xfrm>
          <a:prstGeom prst="roundRect">
            <a:avLst>
              <a:gd name="adj" fmla="val 10000"/>
            </a:avLst>
          </a:prstGeom>
          <a:solidFill>
            <a:srgbClr val="FFF5E2"/>
          </a:solidFill>
          <a:ln w="10160">
            <a:solidFill>
              <a:srgbClr val="F0D8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36792" y="1938528"/>
            <a:ext cx="47548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10243A"/>
                </a:solidFill>
                <a:latin typeface="Aptos"/>
              </a:rPr>
              <a:t>What this project must measure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36792" y="2496312"/>
            <a:ext cx="91440" cy="91440"/>
          </a:xfrm>
          <a:prstGeom prst="roundRect">
            <a:avLst>
              <a:gd name="adj" fmla="val 10000"/>
            </a:avLst>
          </a:prstGeom>
          <a:solidFill>
            <a:srgbClr val="F2B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9672" y="2386584"/>
            <a:ext cx="4526280" cy="1889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D2B3A"/>
                </a:solidFill>
                <a:latin typeface="Aptos"/>
              </a:rPr>
              <a:t>Effect on PYNQ-Z2 PS GEM + its installed Linux image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36792" y="2837688"/>
            <a:ext cx="91440" cy="91440"/>
          </a:xfrm>
          <a:prstGeom prst="roundRect">
            <a:avLst>
              <a:gd name="adj" fmla="val 10000"/>
            </a:avLst>
          </a:prstGeom>
          <a:solidFill>
            <a:srgbClr val="F2B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19672" y="2727960"/>
            <a:ext cx="4526280" cy="1889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D2B3A"/>
                </a:solidFill>
                <a:latin typeface="Aptos"/>
              </a:rPr>
              <a:t>Throughput, loss, latency, and server CPU together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36792" y="3179064"/>
            <a:ext cx="91440" cy="91440"/>
          </a:xfrm>
          <a:prstGeom prst="roundRect">
            <a:avLst>
              <a:gd name="adj" fmla="val 10000"/>
            </a:avLst>
          </a:prstGeom>
          <a:solidFill>
            <a:srgbClr val="F2B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19672" y="3069336"/>
            <a:ext cx="4526280" cy="1889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D2B3A"/>
                </a:solidFill>
                <a:latin typeface="Aptos"/>
              </a:rPr>
              <a:t>Whether a batched candidate helps under the same offered load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931920"/>
            <a:ext cx="10826496" cy="1143000"/>
          </a:xfrm>
          <a:prstGeom prst="roundRect">
            <a:avLst>
              <a:gd name="adj" fmla="val 10000"/>
            </a:avLst>
          </a:prstGeom>
          <a:solidFill>
            <a:srgbClr val="10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4142232"/>
            <a:ext cx="1874519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58C8D2"/>
                </a:solidFill>
                <a:latin typeface="Aptos"/>
              </a:rPr>
              <a:t>Research question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16352" y="4078224"/>
            <a:ext cx="8193024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Aptos"/>
              </a:rPr>
              <a:t>On the PYNQ-Z2, does C batched UDP I/O outperform the Python per-datagram baseline at equal packet sizes and offered load?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" y="5358384"/>
            <a:ext cx="10515600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637487"/>
                </a:solidFill>
                <a:latin typeface="Aptos"/>
              </a:rPr>
              <a:t>Gap defined by this project: no controlled PYNQ-Z2 measurements are recorded yet. The answer is open until board tests are run.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6" y="5815584"/>
            <a:ext cx="105156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0243A"/>
                </a:solidFill>
                <a:latin typeface="Aptos"/>
              </a:rPr>
              <a:t>H0: batching does not improve median reply rate.  H1: it improves rate/goodput without increasing loss or corruption.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1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38404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 i="0">
                <a:solidFill>
                  <a:srgbClr val="11B5A4"/>
                </a:solidFill>
                <a:latin typeface="Aptos"/>
              </a:rPr>
              <a:t>03  | 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110996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500" b="1" i="0">
                <a:solidFill>
                  <a:srgbClr val="10243A"/>
                </a:solidFill>
                <a:latin typeface="Aptos"/>
              </a:rPr>
              <a:t>Proposed system and components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15568"/>
            <a:ext cx="109728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637487"/>
                </a:solidFill>
                <a:latin typeface="Aptos"/>
              </a:rPr>
              <a:t>The two implementations share one PS/Linux stack and one benchmark protocol.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492240"/>
            <a:ext cx="11183112" cy="0"/>
          </a:xfrm>
          <a:prstGeom prst="line">
            <a:avLst/>
          </a:prstGeom>
          <a:ln w="10160">
            <a:solidFill>
              <a:srgbClr val="D8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547104"/>
            <a:ext cx="69494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637487"/>
                </a:solidFill>
                <a:latin typeface="Aptos"/>
              </a:rPr>
              <a:t>PYNQ-Z2  |  PS UDP performance study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3968" y="6528816"/>
            <a:ext cx="4572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637487"/>
                </a:solidFill>
                <a:latin typeface="Aptos"/>
              </a:rPr>
              <a:t>06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" y="1810512"/>
            <a:ext cx="342900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D8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1810512"/>
            <a:ext cx="64008" cy="1280160"/>
          </a:xfrm>
          <a:prstGeom prst="rect">
            <a:avLst/>
          </a:prstGeom>
          <a:solidFill>
            <a:srgbClr val="11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956816"/>
            <a:ext cx="3099816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0243A"/>
                </a:solidFill>
                <a:latin typeface="Aptos"/>
              </a:rPr>
              <a:t>PYNQ-Z2 board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322576"/>
            <a:ext cx="3099816" cy="65836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637487"/>
                </a:solidFill>
                <a:latin typeface="Aptos"/>
              </a:rPr>
              <a:t>Zynq-7000 ARM Cortex-A9 runs Linux; onboard PHY + PS GEM carry packets.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5968" y="1810512"/>
            <a:ext cx="342900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D8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15968" y="1810512"/>
            <a:ext cx="64008" cy="1280160"/>
          </a:xfrm>
          <a:prstGeom prst="rect">
            <a:avLst/>
          </a:prstGeom>
          <a:solidFill>
            <a:srgbClr val="F2B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98848" y="1956816"/>
            <a:ext cx="3099816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0243A"/>
                </a:solidFill>
                <a:latin typeface="Aptos"/>
              </a:rPr>
              <a:t>Python baseline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8848" y="2322576"/>
            <a:ext cx="3099816" cy="65836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637487"/>
                </a:solidFill>
                <a:latin typeface="Aptos"/>
              </a:rPr>
              <a:t>Blocking UDP socket; receive one datagram and echo it per loop iteration.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10144" y="1810512"/>
            <a:ext cx="342900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D8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10144" y="1810512"/>
            <a:ext cx="64008" cy="1280160"/>
          </a:xfrm>
          <a:prstGeom prst="rect">
            <a:avLst/>
          </a:prstGeom>
          <a:solidFill>
            <a:srgbClr val="47B8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93023" y="1956816"/>
            <a:ext cx="3099816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0243A"/>
                </a:solidFill>
                <a:latin typeface="Aptos"/>
              </a:rPr>
              <a:t>C candidate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3" y="2322576"/>
            <a:ext cx="3099816" cy="65836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637487"/>
                </a:solidFill>
                <a:latin typeface="Aptos"/>
              </a:rPr>
              <a:t>Linux recvmmsg/sendmmsg; reusable message arrays; up to 32 datagrams per batch.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" y="3364991"/>
            <a:ext cx="342900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D8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" y="3364991"/>
            <a:ext cx="64008" cy="1280160"/>
          </a:xfrm>
          <a:prstGeom prst="rect">
            <a:avLst/>
          </a:prstGeom>
          <a:solidFill>
            <a:srgbClr val="58C8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3511296"/>
            <a:ext cx="3099816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0243A"/>
                </a:solidFill>
                <a:latin typeface="Aptos"/>
              </a:rPr>
              <a:t>Host benchmark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3877056"/>
            <a:ext cx="3099816" cy="65836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637487"/>
                </a:solidFill>
                <a:latin typeface="Aptos"/>
              </a:rPr>
              <a:t>Sends sequenced payloads in fixed bursts; checks replies and timestamps RTT.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15968" y="3364991"/>
            <a:ext cx="342900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D8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15968" y="3364991"/>
            <a:ext cx="64008" cy="1280160"/>
          </a:xfrm>
          <a:prstGeom prst="rect">
            <a:avLst/>
          </a:prstGeom>
          <a:solidFill>
            <a:srgbClr val="F07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98848" y="3511296"/>
            <a:ext cx="3099816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0243A"/>
                </a:solidFill>
                <a:latin typeface="Aptos"/>
              </a:rPr>
              <a:t>Metrics + report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98848" y="3877056"/>
            <a:ext cx="3099816" cy="65836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637487"/>
                </a:solidFill>
                <a:latin typeface="Aptos"/>
              </a:rPr>
              <a:t>JSONL raw runs, median comparison, integrity/loss checks, server CPU evidence.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10144" y="3364991"/>
            <a:ext cx="342900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D8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10144" y="3364991"/>
            <a:ext cx="64008" cy="128016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93023" y="3511296"/>
            <a:ext cx="3099816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0243A"/>
                </a:solidFill>
                <a:latin typeface="Aptos"/>
              </a:rPr>
              <a:t>Network setup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93023" y="3877056"/>
            <a:ext cx="3099816" cy="65836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637487"/>
                </a:solidFill>
                <a:latin typeface="Aptos"/>
              </a:rPr>
              <a:t>Wired host-to-board path; same switch/cable, port, negotiated speed, and IP config.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120640"/>
            <a:ext cx="106984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637487"/>
                </a:solidFill>
                <a:latin typeface="Aptos"/>
              </a:rPr>
              <a:t>No custom MAC/PHY RTL is required for the selected PS-based experiment.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1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38404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 i="0">
                <a:solidFill>
                  <a:srgbClr val="11B5A4"/>
                </a:solidFill>
                <a:latin typeface="Aptos"/>
              </a:rPr>
              <a:t>03  | 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110996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500" b="1" i="0">
                <a:solidFill>
                  <a:srgbClr val="10243A"/>
                </a:solidFill>
                <a:latin typeface="Aptos"/>
              </a:rPr>
              <a:t>Baseline and candidate: one controlled A/B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15568"/>
            <a:ext cx="109728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637487"/>
                </a:solidFill>
                <a:latin typeface="Aptos"/>
              </a:rPr>
              <a:t>The only intentional independent variable is the server implementation.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492240"/>
            <a:ext cx="11183112" cy="0"/>
          </a:xfrm>
          <a:prstGeom prst="line">
            <a:avLst/>
          </a:prstGeom>
          <a:ln w="10160">
            <a:solidFill>
              <a:srgbClr val="D8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547104"/>
            <a:ext cx="69494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637487"/>
                </a:solidFill>
                <a:latin typeface="Aptos"/>
              </a:rPr>
              <a:t>PYNQ-Z2  |  PS UDP performance study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3968" y="6528816"/>
            <a:ext cx="4572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637487"/>
                </a:solidFill>
                <a:latin typeface="Aptos"/>
              </a:rPr>
              <a:t>07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" y="1719072"/>
            <a:ext cx="2971800" cy="3246120"/>
          </a:xfrm>
          <a:prstGeom prst="roundRect">
            <a:avLst>
              <a:gd name="adj" fmla="val 10000"/>
            </a:avLst>
          </a:prstGeom>
          <a:solidFill>
            <a:srgbClr val="EA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938528"/>
            <a:ext cx="2514600" cy="2834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0243A"/>
                </a:solidFill>
                <a:latin typeface="Aptos"/>
              </a:rPr>
              <a:t>CONTROLLED INPUTS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41832" y="2523744"/>
            <a:ext cx="91440" cy="91440"/>
          </a:xfrm>
          <a:prstGeom prst="roundRect">
            <a:avLst>
              <a:gd name="adj" fmla="val 10000"/>
            </a:avLst>
          </a:prstGeom>
          <a:solidFill>
            <a:srgbClr val="11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24712" y="2414016"/>
            <a:ext cx="2286000" cy="2438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D2B3A"/>
                </a:solidFill>
                <a:latin typeface="Aptos"/>
              </a:rPr>
              <a:t>Same host benchmark and code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41832" y="2980944"/>
            <a:ext cx="91440" cy="91440"/>
          </a:xfrm>
          <a:prstGeom prst="roundRect">
            <a:avLst>
              <a:gd name="adj" fmla="val 10000"/>
            </a:avLst>
          </a:prstGeom>
          <a:solidFill>
            <a:srgbClr val="11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24712" y="2871216"/>
            <a:ext cx="2286000" cy="2438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D2B3A"/>
                </a:solidFill>
                <a:latin typeface="Aptos"/>
              </a:rPr>
              <a:t>Same UDP packet format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1832" y="3438144"/>
            <a:ext cx="91440" cy="91440"/>
          </a:xfrm>
          <a:prstGeom prst="roundRect">
            <a:avLst>
              <a:gd name="adj" fmla="val 10000"/>
            </a:avLst>
          </a:prstGeom>
          <a:solidFill>
            <a:srgbClr val="11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24712" y="3328416"/>
            <a:ext cx="2286000" cy="2438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D2B3A"/>
                </a:solidFill>
                <a:latin typeface="Aptos"/>
              </a:rPr>
              <a:t>Same payload length and 32-packet burst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41832" y="3895344"/>
            <a:ext cx="91440" cy="91440"/>
          </a:xfrm>
          <a:prstGeom prst="roundRect">
            <a:avLst>
              <a:gd name="adj" fmla="val 10000"/>
            </a:avLst>
          </a:prstGeom>
          <a:solidFill>
            <a:srgbClr val="11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24712" y="3785616"/>
            <a:ext cx="2286000" cy="2438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D2B3A"/>
                </a:solidFill>
                <a:latin typeface="Aptos"/>
              </a:rPr>
              <a:t>Same test duration and socket-buffer request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41832" y="4352544"/>
            <a:ext cx="91440" cy="91440"/>
          </a:xfrm>
          <a:prstGeom prst="roundRect">
            <a:avLst>
              <a:gd name="adj" fmla="val 10000"/>
            </a:avLst>
          </a:prstGeom>
          <a:solidFill>
            <a:srgbClr val="11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24712" y="4242816"/>
            <a:ext cx="2286000" cy="2438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D2B3A"/>
                </a:solidFill>
                <a:latin typeface="Aptos"/>
              </a:rPr>
              <a:t>Same board, Linux, link, and network path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69080" y="1764792"/>
            <a:ext cx="3136392" cy="1060704"/>
          </a:xfrm>
          <a:prstGeom prst="roundRect">
            <a:avLst>
              <a:gd name="adj" fmla="val 10000"/>
            </a:avLst>
          </a:prstGeom>
          <a:solidFill>
            <a:srgbClr val="FFF5E2"/>
          </a:solidFill>
          <a:ln w="10160">
            <a:solidFill>
              <a:srgbClr val="F0D8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15968" y="1938528"/>
            <a:ext cx="26517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10243A"/>
                </a:solidFill>
                <a:latin typeface="Aptos"/>
              </a:rPr>
              <a:t>A  •  Python baseline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60" y="2313432"/>
            <a:ext cx="2743200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0" i="0">
                <a:solidFill>
                  <a:srgbClr val="637487"/>
                </a:solidFill>
                <a:latin typeface="Aptos"/>
              </a:rPr>
              <a:t>recvfrom → validate → sendto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069080" y="3502152"/>
            <a:ext cx="3136392" cy="1060704"/>
          </a:xfrm>
          <a:prstGeom prst="roundRect">
            <a:avLst>
              <a:gd name="adj" fmla="val 10000"/>
            </a:avLst>
          </a:prstGeom>
          <a:solidFill>
            <a:srgbClr val="E7F7F4"/>
          </a:solidFill>
          <a:ln w="10160">
            <a:solidFill>
              <a:srgbClr val="A6DD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51960" y="3675888"/>
            <a:ext cx="2743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10243A"/>
                </a:solidFill>
                <a:latin typeface="Aptos"/>
              </a:rPr>
              <a:t>B  •  C batched candidate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51960" y="4050791"/>
            <a:ext cx="2743200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0" i="0">
                <a:solidFill>
                  <a:srgbClr val="637487"/>
                </a:solidFill>
                <a:latin typeface="Aptos"/>
              </a:rPr>
              <a:t>recvmmsg → validate → sendmmsg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632704" y="2843784"/>
            <a:ext cx="0" cy="557784"/>
          </a:xfrm>
          <a:prstGeom prst="line">
            <a:avLst/>
          </a:prstGeom>
          <a:ln w="25400">
            <a:solidFill>
              <a:srgbClr val="11B5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644383" y="1719072"/>
            <a:ext cx="3803904" cy="3246120"/>
          </a:xfrm>
          <a:prstGeom prst="roundRect">
            <a:avLst>
              <a:gd name="adj" fmla="val 10000"/>
            </a:avLst>
          </a:prstGeom>
          <a:solidFill>
            <a:srgbClr val="10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36992" y="1938528"/>
            <a:ext cx="3200400" cy="2834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58C8D2"/>
                </a:solidFill>
                <a:latin typeface="Aptos"/>
              </a:rPr>
              <a:t>COMPARE OUTPUTS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55279" y="2523744"/>
            <a:ext cx="91440" cy="91440"/>
          </a:xfrm>
          <a:prstGeom prst="roundRect">
            <a:avLst>
              <a:gd name="adj" fmla="val 10000"/>
            </a:avLst>
          </a:prstGeom>
          <a:solidFill>
            <a:srgbClr val="11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38159" y="2414016"/>
            <a:ext cx="2953512" cy="2438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FFFFFF"/>
                </a:solidFill>
                <a:latin typeface="Aptos"/>
              </a:rPr>
              <a:t>Valid unique replies per second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55279" y="2980944"/>
            <a:ext cx="91440" cy="91440"/>
          </a:xfrm>
          <a:prstGeom prst="roundRect">
            <a:avLst>
              <a:gd name="adj" fmla="val 10000"/>
            </a:avLst>
          </a:prstGeom>
          <a:solidFill>
            <a:srgbClr val="11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38159" y="2871216"/>
            <a:ext cx="2953512" cy="2438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FFFFFF"/>
                </a:solidFill>
                <a:latin typeface="Aptos"/>
              </a:rPr>
              <a:t>UDP payload goodput (Mbps)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55279" y="3438144"/>
            <a:ext cx="91440" cy="91440"/>
          </a:xfrm>
          <a:prstGeom prst="roundRect">
            <a:avLst>
              <a:gd name="adj" fmla="val 10000"/>
            </a:avLst>
          </a:prstGeom>
          <a:solidFill>
            <a:srgbClr val="11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38159" y="3328416"/>
            <a:ext cx="2953512" cy="2438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FFFFFF"/>
                </a:solidFill>
                <a:latin typeface="Aptos"/>
              </a:rPr>
              <a:t>Loss / corrupt / duplicate replies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955279" y="3895344"/>
            <a:ext cx="91440" cy="91440"/>
          </a:xfrm>
          <a:prstGeom prst="roundRect">
            <a:avLst>
              <a:gd name="adj" fmla="val 10000"/>
            </a:avLst>
          </a:prstGeom>
          <a:solidFill>
            <a:srgbClr val="11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38159" y="3785616"/>
            <a:ext cx="2953512" cy="2438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FFFFFF"/>
                </a:solidFill>
                <a:latin typeface="Aptos"/>
              </a:rPr>
              <a:t>Mean, p50 and p95 RTT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955279" y="4352544"/>
            <a:ext cx="91440" cy="91440"/>
          </a:xfrm>
          <a:prstGeom prst="roundRect">
            <a:avLst>
              <a:gd name="adj" fmla="val 10000"/>
            </a:avLst>
          </a:prstGeom>
          <a:solidFill>
            <a:srgbClr val="11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38159" y="4242816"/>
            <a:ext cx="2953512" cy="2438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FFFFFF"/>
                </a:solidFill>
                <a:latin typeface="Aptos"/>
              </a:rPr>
              <a:t>Board process CPU time / CPU use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2688" y="5266944"/>
            <a:ext cx="1033272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637487"/>
                </a:solidFill>
                <a:latin typeface="Aptos"/>
              </a:rPr>
              <a:t>One server at a time; alternate run order to reduce warm-up / drift bias.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1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38404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 i="0">
                <a:solidFill>
                  <a:srgbClr val="11B5A4"/>
                </a:solidFill>
                <a:latin typeface="Aptos"/>
              </a:rPr>
              <a:t>03  | 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110996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500" b="1" i="0">
                <a:solidFill>
                  <a:srgbClr val="10243A"/>
                </a:solidFill>
                <a:latin typeface="Aptos"/>
              </a:rPr>
              <a:t>What changes in the code?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15568"/>
            <a:ext cx="109728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637487"/>
                </a:solidFill>
                <a:latin typeface="Aptos"/>
              </a:rPr>
              <a:t>The experiment targets application-to-kernel call frequency, not the Ethernet PHY or IP stack.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492240"/>
            <a:ext cx="11183112" cy="0"/>
          </a:xfrm>
          <a:prstGeom prst="line">
            <a:avLst/>
          </a:prstGeom>
          <a:ln w="10160">
            <a:solidFill>
              <a:srgbClr val="D8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547104"/>
            <a:ext cx="69494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637487"/>
                </a:solidFill>
                <a:latin typeface="Aptos"/>
              </a:rPr>
              <a:t>PYNQ-Z2  |  PS UDP performance study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3968" y="6528816"/>
            <a:ext cx="4572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637487"/>
                </a:solidFill>
                <a:latin typeface="Aptos"/>
              </a:rPr>
              <a:t>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682496"/>
            <a:ext cx="5321808" cy="3145536"/>
          </a:xfrm>
          <a:prstGeom prst="roundRect">
            <a:avLst>
              <a:gd name="adj" fmla="val 10000"/>
            </a:avLst>
          </a:prstGeom>
          <a:solidFill>
            <a:srgbClr val="10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96112" y="1856232"/>
            <a:ext cx="1874519" cy="274320"/>
          </a:xfrm>
          <a:prstGeom prst="roundRect">
            <a:avLst>
              <a:gd name="adj" fmla="val 10000"/>
            </a:avLst>
          </a:prstGeom>
          <a:solidFill>
            <a:srgbClr val="F2B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1874520"/>
            <a:ext cx="1783079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 i="0">
                <a:solidFill>
                  <a:srgbClr val="10243A"/>
                </a:solidFill>
                <a:latin typeface="Aptos"/>
              </a:rPr>
              <a:t>BASELINE  |  PYTHON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2340864"/>
            <a:ext cx="4709160" cy="17739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DCE8F0"/>
                </a:solidFill>
                <a:latin typeface="Consolas"/>
              </a:rPr>
              <a:t>while running:</a:t>
            </a:r>
          </a:p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DCE8F0"/>
                </a:solidFill>
                <a:latin typeface="Consolas"/>
              </a:rPr>
              <a:t>    payload, peer = sock.recvfrom(1473)</a:t>
            </a:r>
          </a:p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DCE8F0"/>
                </a:solidFill>
                <a:latin typeface="Consolas"/>
              </a:rPr>
              <a:t>    if len(payload) &lt;= 1472:</a:t>
            </a:r>
          </a:p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DCE8F0"/>
                </a:solidFill>
                <a:latin typeface="Consolas"/>
              </a:rPr>
              <a:t>        sock.sendto(payload, peer)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306824"/>
            <a:ext cx="4681728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F2B84B"/>
                </a:solidFill>
                <a:latin typeface="Aptos"/>
              </a:rPr>
              <a:t>One receive + one send call per datagram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6208" y="1682496"/>
            <a:ext cx="5321808" cy="3145536"/>
          </a:xfrm>
          <a:prstGeom prst="roundRect">
            <a:avLst>
              <a:gd name="adj" fmla="val 10000"/>
            </a:avLst>
          </a:prstGeom>
          <a:solidFill>
            <a:srgbClr val="10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92240" y="1856232"/>
            <a:ext cx="2103120" cy="274320"/>
          </a:xfrm>
          <a:prstGeom prst="roundRect">
            <a:avLst>
              <a:gd name="adj" fmla="val 10000"/>
            </a:avLst>
          </a:prstGeom>
          <a:solidFill>
            <a:srgbClr val="11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59" y="1874520"/>
            <a:ext cx="2011679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 i="0">
                <a:solidFill>
                  <a:srgbClr val="10243A"/>
                </a:solidFill>
                <a:latin typeface="Aptos"/>
              </a:rPr>
              <a:t>CANDIDATE  |  LINUX 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28816" y="2313432"/>
            <a:ext cx="4663440" cy="1874519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DCE8F0"/>
                </a:solidFill>
                <a:latin typeface="Consolas"/>
              </a:rPr>
              <a:t>n = recvmmsg(fd, rx, 32, MSG_WAITFORONE, NULL)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DCE8F0"/>
                </a:solidFill>
                <a:latin typeface="Consolas"/>
              </a:rPr>
              <a:t>validate each received datagram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DCE8F0"/>
                </a:solidFill>
                <a:latin typeface="Consolas"/>
              </a:rPr>
              <a:t>sent = 0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DCE8F0"/>
                </a:solidFill>
                <a:latin typeface="Consolas"/>
              </a:rPr>
              <a:t>while sent &lt; valid_count: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DCE8F0"/>
                </a:solidFill>
                <a:latin typeface="Consolas"/>
              </a:rPr>
              <a:t>    sent += sendmmsg(fd, &amp;tx[sent],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DCE8F0"/>
                </a:solidFill>
                <a:latin typeface="Consolas"/>
              </a:rPr>
              <a:t>                     valid_count - sent, 0)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8816" y="4306824"/>
            <a:ext cx="4681728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11B5A4"/>
                </a:solidFill>
                <a:latin typeface="Aptos"/>
              </a:rPr>
              <a:t>Up to 32 queued messages per syscall; handle partial sends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5129784"/>
            <a:ext cx="10561320" cy="694944"/>
          </a:xfrm>
          <a:prstGeom prst="roundRect">
            <a:avLst>
              <a:gd name="adj" fmla="val 10000"/>
            </a:avLst>
          </a:prstGeom>
          <a:solidFill>
            <a:srgbClr val="FFF5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5303520"/>
            <a:ext cx="1013155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 i="0">
                <a:solidFill>
                  <a:srgbClr val="10243A"/>
                </a:solidFill>
                <a:latin typeface="Aptos"/>
              </a:rPr>
              <a:t>Hypothesis: fewer per-datagram user/kernel transitions can reduce CPU cost and raise packet rate when the server is the bottleneck.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1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38404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 i="0">
                <a:solidFill>
                  <a:srgbClr val="11B5A4"/>
                </a:solidFill>
                <a:latin typeface="Aptos"/>
              </a:rPr>
              <a:t>04  |  EXPERIMENT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110996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500" b="1" i="0">
                <a:solidFill>
                  <a:srgbClr val="10243A"/>
                </a:solidFill>
                <a:latin typeface="Aptos"/>
              </a:rPr>
              <a:t>Methodology: make the comparison fair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15568"/>
            <a:ext cx="109728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637487"/>
                </a:solidFill>
                <a:latin typeface="Aptos"/>
              </a:rPr>
              <a:t>Pre-register the main metric and keep all other variables fixed.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492240"/>
            <a:ext cx="11183112" cy="0"/>
          </a:xfrm>
          <a:prstGeom prst="line">
            <a:avLst/>
          </a:prstGeom>
          <a:ln w="10160">
            <a:solidFill>
              <a:srgbClr val="D8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547104"/>
            <a:ext cx="69494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637487"/>
                </a:solidFill>
                <a:latin typeface="Aptos"/>
              </a:rPr>
              <a:t>PYNQ-Z2  |  PS UDP performance study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3968" y="6528816"/>
            <a:ext cx="4572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637487"/>
                </a:solidFill>
                <a:latin typeface="Aptos"/>
              </a:rPr>
              <a:t>09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1737360"/>
            <a:ext cx="3493008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D8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1911095"/>
            <a:ext cx="365760" cy="274320"/>
          </a:xfrm>
          <a:prstGeom prst="roundRect">
            <a:avLst>
              <a:gd name="adj" fmla="val 10000"/>
            </a:avLst>
          </a:prstGeom>
          <a:solidFill>
            <a:srgbClr val="11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1929384"/>
            <a:ext cx="2743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10243A"/>
                </a:solidFill>
                <a:latin typeface="Apto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35024" y="1920240"/>
            <a:ext cx="254203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0243A"/>
                </a:solidFill>
                <a:latin typeface="Aptos"/>
              </a:rPr>
              <a:t>Inspect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331720"/>
            <a:ext cx="3072384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637487"/>
                </a:solidFill>
                <a:latin typeface="Aptos"/>
              </a:rPr>
              <a:t>Record PYNQ image, kernel, CPU architecture, GCC, link speed/duplex, socket buffers.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71416" y="1737360"/>
            <a:ext cx="3493008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D8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636008" y="1911095"/>
            <a:ext cx="365760" cy="274320"/>
          </a:xfrm>
          <a:prstGeom prst="roundRect">
            <a:avLst>
              <a:gd name="adj" fmla="val 10000"/>
            </a:avLst>
          </a:prstGeom>
          <a:solidFill>
            <a:srgbClr val="11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81728" y="1929384"/>
            <a:ext cx="2743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10243A"/>
                </a:solidFill>
                <a:latin typeface="Aptos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9784" y="1920240"/>
            <a:ext cx="254203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0243A"/>
                </a:solidFill>
                <a:latin typeface="Aptos"/>
              </a:rPr>
              <a:t>Validate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72584" y="2331720"/>
            <a:ext cx="3072384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637487"/>
                </a:solidFill>
                <a:latin typeface="Aptos"/>
              </a:rPr>
              <a:t>Run integrity tests against both servers; confirm exact echoes before load testing.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66176" y="1737360"/>
            <a:ext cx="3493008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D8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30768" y="1911095"/>
            <a:ext cx="365760" cy="274320"/>
          </a:xfrm>
          <a:prstGeom prst="roundRect">
            <a:avLst>
              <a:gd name="adj" fmla="val 10000"/>
            </a:avLst>
          </a:prstGeom>
          <a:solidFill>
            <a:srgbClr val="11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76488" y="1929384"/>
            <a:ext cx="2743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10243A"/>
                </a:solidFill>
                <a:latin typeface="Aptos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24544" y="1920240"/>
            <a:ext cx="254203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0243A"/>
                </a:solidFill>
                <a:latin typeface="Aptos"/>
              </a:rPr>
              <a:t>Warm up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67344" y="2331720"/>
            <a:ext cx="3072384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637487"/>
                </a:solidFill>
                <a:latin typeface="Aptos"/>
              </a:rPr>
              <a:t>Warm each server and path equally; do not mix warm-up packets into timed samples.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6656" y="3456432"/>
            <a:ext cx="3493008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D8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41247" y="3630168"/>
            <a:ext cx="365760" cy="274320"/>
          </a:xfrm>
          <a:prstGeom prst="roundRect">
            <a:avLst>
              <a:gd name="adj" fmla="val 10000"/>
            </a:avLst>
          </a:prstGeom>
          <a:solidFill>
            <a:srgbClr val="11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6968" y="3648456"/>
            <a:ext cx="2743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10243A"/>
                </a:solidFill>
                <a:latin typeface="Aptos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35024" y="3639312"/>
            <a:ext cx="254203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0243A"/>
                </a:solidFill>
                <a:latin typeface="Aptos"/>
              </a:rPr>
              <a:t>Measure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824" y="4050791"/>
            <a:ext cx="3072384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637487"/>
                </a:solidFill>
                <a:latin typeface="Aptos"/>
              </a:rPr>
              <a:t>5+ paired runs per payload; alternate A/B order; save each JSON record.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71416" y="3456432"/>
            <a:ext cx="3493008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D8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636008" y="3630168"/>
            <a:ext cx="365760" cy="274320"/>
          </a:xfrm>
          <a:prstGeom prst="roundRect">
            <a:avLst>
              <a:gd name="adj" fmla="val 10000"/>
            </a:avLst>
          </a:prstGeom>
          <a:solidFill>
            <a:srgbClr val="11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81728" y="3648456"/>
            <a:ext cx="2743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10243A"/>
                </a:solidFill>
                <a:latin typeface="Aptos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9784" y="3639312"/>
            <a:ext cx="254203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0243A"/>
                </a:solidFill>
                <a:latin typeface="Aptos"/>
              </a:rPr>
              <a:t>Analyze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72584" y="4050791"/>
            <a:ext cx="3072384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637487"/>
                </a:solidFill>
                <a:latin typeface="Aptos"/>
              </a:rPr>
              <a:t>Compare medians and variation; examine packet loss, RTT, CPU, and errors.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66176" y="3456432"/>
            <a:ext cx="3493008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D8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430768" y="3630168"/>
            <a:ext cx="365760" cy="274320"/>
          </a:xfrm>
          <a:prstGeom prst="roundRect">
            <a:avLst>
              <a:gd name="adj" fmla="val 10000"/>
            </a:avLst>
          </a:prstGeom>
          <a:solidFill>
            <a:srgbClr val="11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76488" y="3648456"/>
            <a:ext cx="2743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10243A"/>
                </a:solidFill>
                <a:latin typeface="Aptos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24544" y="3639312"/>
            <a:ext cx="254203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0243A"/>
                </a:solidFill>
                <a:latin typeface="Aptos"/>
              </a:rPr>
              <a:t>Report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67344" y="4050791"/>
            <a:ext cx="3072384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637487"/>
                </a:solidFill>
                <a:latin typeface="Aptos"/>
              </a:rPr>
              <a:t>Keep raw logs, environment, commands, captures, plots, and limitations.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68096" y="5303520"/>
            <a:ext cx="10680192" cy="585216"/>
          </a:xfrm>
          <a:prstGeom prst="roundRect">
            <a:avLst>
              <a:gd name="adj" fmla="val 10000"/>
            </a:avLst>
          </a:prstGeom>
          <a:solidFill>
            <a:srgbClr val="E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5458968"/>
            <a:ext cx="101955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 i="0">
                <a:solidFill>
                  <a:srgbClr val="10243A"/>
                </a:solidFill>
                <a:latin typeface="Aptos"/>
              </a:rPr>
              <a:t>Repeat for 64 B, 512 B and 1472 B payloads; same 32-packet host burst and 10 s offered-load window.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1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38404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 i="0">
                <a:solidFill>
                  <a:srgbClr val="11B5A4"/>
                </a:solidFill>
                <a:latin typeface="Aptos"/>
              </a:rPr>
              <a:t>04  |  EXPERIMENT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110996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500" b="1" i="0">
                <a:solidFill>
                  <a:srgbClr val="10243A"/>
                </a:solidFill>
                <a:latin typeface="Aptos"/>
              </a:rPr>
              <a:t>What exactly will be measured?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15568"/>
            <a:ext cx="109728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637487"/>
                </a:solidFill>
                <a:latin typeface="Aptos"/>
              </a:rPr>
              <a:t>Application-level metrics are not a substitute for PHY line-rate testing.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492240"/>
            <a:ext cx="11183112" cy="0"/>
          </a:xfrm>
          <a:prstGeom prst="line">
            <a:avLst/>
          </a:prstGeom>
          <a:ln w="10160">
            <a:solidFill>
              <a:srgbClr val="D8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547104"/>
            <a:ext cx="69494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637487"/>
                </a:solidFill>
                <a:latin typeface="Aptos"/>
              </a:rPr>
              <a:t>PYNQ-Z2  |  PS UDP performance study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3968" y="6528816"/>
            <a:ext cx="4572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637487"/>
                </a:solidFill>
                <a:latin typeface="Aptos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3383280" cy="14447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D8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1874519"/>
            <a:ext cx="3035808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11B5A4"/>
                </a:solidFill>
                <a:latin typeface="Aptos"/>
              </a:rPr>
              <a:t>GOODPUT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2176272"/>
            <a:ext cx="3035808" cy="3931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10243A"/>
                </a:solidFill>
                <a:latin typeface="Aptos"/>
              </a:rPr>
              <a:t>Unique echoed payload bits / timed seconds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2660904"/>
            <a:ext cx="3035808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637487"/>
                </a:solidFill>
                <a:latin typeface="Aptos"/>
              </a:rPr>
              <a:t>Mbps = unique_replies × payload_bytes × 8 / seconds / 10⁶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5968" y="1737360"/>
            <a:ext cx="3383280" cy="14447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D8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59" y="1874519"/>
            <a:ext cx="3035808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58C8D2"/>
                </a:solidFill>
                <a:latin typeface="Aptos"/>
              </a:rPr>
              <a:t>PACKET 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59" y="2176272"/>
            <a:ext cx="3035808" cy="3931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10243A"/>
                </a:solidFill>
                <a:latin typeface="Aptos"/>
              </a:rPr>
              <a:t>Count only valid, unique echoes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59" y="2660904"/>
            <a:ext cx="3035808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637487"/>
                </a:solidFill>
                <a:latin typeface="Aptos"/>
              </a:rPr>
              <a:t>replies/s = unique_replies / timed seconds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91855" y="1737360"/>
            <a:ext cx="3383280" cy="14447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D8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56447" y="1874519"/>
            <a:ext cx="3035808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F0786B"/>
                </a:solidFill>
                <a:latin typeface="Aptos"/>
              </a:rPr>
              <a:t>LOSS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56447" y="2176272"/>
            <a:ext cx="3035808" cy="3931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10243A"/>
                </a:solidFill>
                <a:latin typeface="Aptos"/>
              </a:rPr>
              <a:t>Sent sequences with no valid echo after drain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6447" y="2660904"/>
            <a:ext cx="3035808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637487"/>
                </a:solidFill>
                <a:latin typeface="Aptos"/>
              </a:rPr>
              <a:t>loss % = (sent − unique_replies) / sent × 100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410712"/>
            <a:ext cx="3383280" cy="14447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D8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1" y="3547872"/>
            <a:ext cx="3035808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F2B84B"/>
                </a:solidFill>
                <a:latin typeface="Aptos"/>
              </a:rPr>
              <a:t>LATENCY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1" y="3849624"/>
            <a:ext cx="3035808" cy="3931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10243A"/>
                </a:solidFill>
                <a:latin typeface="Aptos"/>
              </a:rPr>
              <a:t>Host monotonic send-to-valid-echo time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1" y="4334256"/>
            <a:ext cx="3035808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637487"/>
                </a:solidFill>
                <a:latin typeface="Aptos"/>
              </a:rPr>
              <a:t>Report mean, p50, p95; compare under same offered load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15968" y="3410712"/>
            <a:ext cx="3383280" cy="14447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D8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80559" y="3547872"/>
            <a:ext cx="3035808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47B881"/>
                </a:solidFill>
                <a:latin typeface="Aptos"/>
              </a:rPr>
              <a:t>CPU COST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59" y="3849624"/>
            <a:ext cx="3035808" cy="3931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10243A"/>
                </a:solidFill>
                <a:latin typeface="Aptos"/>
              </a:rPr>
              <a:t>Server process CPU time + Linux CPU monitor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59" y="4334256"/>
            <a:ext cx="3035808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637487"/>
                </a:solidFill>
                <a:latin typeface="Aptos"/>
              </a:rPr>
              <a:t>Report CPU seconds and average utilization separately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91855" y="3410712"/>
            <a:ext cx="3383280" cy="14447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D8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56447" y="3547872"/>
            <a:ext cx="3035808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183650"/>
                </a:solidFill>
                <a:latin typeface="Aptos"/>
              </a:rPr>
              <a:t>INTEGRITY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56447" y="3849624"/>
            <a:ext cx="3035808" cy="3931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10243A"/>
                </a:solidFill>
                <a:latin typeface="Aptos"/>
              </a:rPr>
              <a:t>Sequence, exact length and payload bytes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56447" y="4334256"/>
            <a:ext cx="3035808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637487"/>
                </a:solidFill>
                <a:latin typeface="Aptos"/>
              </a:rPr>
              <a:t>Any corruption / unexpected duplicate is a correctness failure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8" y="5257800"/>
            <a:ext cx="105156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1">
                <a:solidFill>
                  <a:srgbClr val="637487"/>
                </a:solidFill>
                <a:latin typeface="Aptos"/>
              </a:rPr>
              <a:t>Use the same timer boundary and drain interval for A and B; disclose that loopback throughput includes host and Linux overhead.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1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38404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 i="0">
                <a:solidFill>
                  <a:srgbClr val="11B5A4"/>
                </a:solidFill>
                <a:latin typeface="Aptos"/>
              </a:rPr>
              <a:t>04  |  EXPERIMENT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110996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500" b="1" i="0">
                <a:solidFill>
                  <a:srgbClr val="10243A"/>
                </a:solidFill>
                <a:latin typeface="Aptos"/>
              </a:rPr>
              <a:t>Test matrix and controlled variables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15568"/>
            <a:ext cx="109728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637487"/>
                </a:solidFill>
                <a:latin typeface="Aptos"/>
              </a:rPr>
              <a:t>A small matrix is easier to repeat, audit, and explain in a viva.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492240"/>
            <a:ext cx="11183112" cy="0"/>
          </a:xfrm>
          <a:prstGeom prst="line">
            <a:avLst/>
          </a:prstGeom>
          <a:ln w="10160">
            <a:solidFill>
              <a:srgbClr val="D8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547104"/>
            <a:ext cx="69494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637487"/>
                </a:solidFill>
                <a:latin typeface="Aptos"/>
              </a:rPr>
              <a:t>PYNQ-Z2  |  PS UDP performance study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3968" y="6528816"/>
            <a:ext cx="4572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637487"/>
                </a:solidFill>
                <a:latin typeface="Aptos"/>
              </a:rPr>
              <a:t>11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673352"/>
            <a:ext cx="1947672" cy="384048"/>
          </a:xfrm>
          <a:prstGeom prst="rect">
            <a:avLst/>
          </a:prstGeom>
          <a:solidFill>
            <a:srgbClr val="10243A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728216"/>
            <a:ext cx="1783080" cy="292607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Variable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33472" y="1673352"/>
            <a:ext cx="4315968" cy="384048"/>
          </a:xfrm>
          <a:prstGeom prst="rect">
            <a:avLst/>
          </a:prstGeom>
          <a:solidFill>
            <a:srgbClr val="10243A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15768" y="1728216"/>
            <a:ext cx="4151376" cy="292607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Plan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49440" y="1673352"/>
            <a:ext cx="4242816" cy="384048"/>
          </a:xfrm>
          <a:prstGeom prst="rect">
            <a:avLst/>
          </a:prstGeom>
          <a:solidFill>
            <a:srgbClr val="10243A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31736" y="1728216"/>
            <a:ext cx="4078224" cy="292607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Reason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2057400"/>
            <a:ext cx="1947672" cy="42976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2112264"/>
            <a:ext cx="1783080" cy="33832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D2B3A"/>
                </a:solidFill>
                <a:latin typeface="Aptos"/>
              </a:rPr>
              <a:t>Server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33472" y="2057400"/>
            <a:ext cx="4315968" cy="42976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15768" y="2112264"/>
            <a:ext cx="4151376" cy="33832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D2B3A"/>
                </a:solidFill>
                <a:latin typeface="Aptos"/>
              </a:rPr>
              <a:t>Python baseline vs batched 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49440" y="2057400"/>
            <a:ext cx="4242816" cy="42976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31736" y="2112264"/>
            <a:ext cx="4078224" cy="33832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D2B3A"/>
                </a:solidFill>
                <a:latin typeface="Aptos"/>
              </a:rPr>
              <a:t>Independent variable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2487168"/>
            <a:ext cx="1947672" cy="429768"/>
          </a:xfrm>
          <a:prstGeom prst="rect">
            <a:avLst/>
          </a:prstGeom>
          <a:solidFill>
            <a:srgbClr val="EAF2F8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2542032"/>
            <a:ext cx="1783080" cy="33832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D2B3A"/>
                </a:solidFill>
                <a:latin typeface="Aptos"/>
              </a:rPr>
              <a:t>Payload size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633472" y="2487168"/>
            <a:ext cx="4315968" cy="429768"/>
          </a:xfrm>
          <a:prstGeom prst="rect">
            <a:avLst/>
          </a:prstGeom>
          <a:solidFill>
            <a:srgbClr val="EAF2F8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15768" y="2542032"/>
            <a:ext cx="4151376" cy="33832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D2B3A"/>
                </a:solidFill>
                <a:latin typeface="Aptos"/>
              </a:rPr>
              <a:t>64 B / 512 B / 1472 B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49440" y="2487168"/>
            <a:ext cx="4242816" cy="429768"/>
          </a:xfrm>
          <a:prstGeom prst="rect">
            <a:avLst/>
          </a:prstGeom>
          <a:solidFill>
            <a:srgbClr val="EAF2F8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31736" y="2542032"/>
            <a:ext cx="4078224" cy="33832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D2B3A"/>
                </a:solidFill>
                <a:latin typeface="Aptos"/>
              </a:rPr>
              <a:t>Small, mid-size, near-MTU behavior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2916935"/>
            <a:ext cx="1947672" cy="42976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2971799"/>
            <a:ext cx="1783080" cy="33832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D2B3A"/>
                </a:solidFill>
                <a:latin typeface="Aptos"/>
              </a:rPr>
              <a:t>Host burst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633472" y="2916935"/>
            <a:ext cx="4315968" cy="42976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15768" y="2971799"/>
            <a:ext cx="4151376" cy="33832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D2B3A"/>
                </a:solidFill>
                <a:latin typeface="Aptos"/>
              </a:rPr>
              <a:t>32 datagrams (both versions)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949440" y="2916935"/>
            <a:ext cx="4242816" cy="42976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31736" y="2971799"/>
            <a:ext cx="4078224" cy="33832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D2B3A"/>
                </a:solidFill>
                <a:latin typeface="Aptos"/>
              </a:rPr>
              <a:t>Creates queue opportunities for batch receive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5800" y="3346703"/>
            <a:ext cx="1947672" cy="429768"/>
          </a:xfrm>
          <a:prstGeom prst="rect">
            <a:avLst/>
          </a:prstGeom>
          <a:solidFill>
            <a:srgbClr val="EAF2F8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8096" y="3401567"/>
            <a:ext cx="1783080" cy="33832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D2B3A"/>
                </a:solidFill>
                <a:latin typeface="Aptos"/>
              </a:rPr>
              <a:t>Timed load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633472" y="3346703"/>
            <a:ext cx="4315968" cy="429768"/>
          </a:xfrm>
          <a:prstGeom prst="rect">
            <a:avLst/>
          </a:prstGeom>
          <a:solidFill>
            <a:srgbClr val="EAF2F8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15768" y="3401567"/>
            <a:ext cx="4151376" cy="33832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D2B3A"/>
                </a:solidFill>
                <a:latin typeface="Aptos"/>
              </a:rPr>
              <a:t>10 s + identical 1 s reply drain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49440" y="3346703"/>
            <a:ext cx="4242816" cy="429768"/>
          </a:xfrm>
          <a:prstGeom prst="rect">
            <a:avLst/>
          </a:prstGeom>
          <a:solidFill>
            <a:srgbClr val="EAF2F8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31736" y="3401567"/>
            <a:ext cx="4078224" cy="33832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D2B3A"/>
                </a:solidFill>
                <a:latin typeface="Aptos"/>
              </a:rPr>
              <a:t>Common throughput window and loss accounting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5800" y="3776471"/>
            <a:ext cx="1947672" cy="42976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68096" y="3831335"/>
            <a:ext cx="1783080" cy="33832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D2B3A"/>
                </a:solidFill>
                <a:latin typeface="Aptos"/>
              </a:rPr>
              <a:t>Socket buffers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33472" y="3776471"/>
            <a:ext cx="4315968" cy="42976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715768" y="3831335"/>
            <a:ext cx="4151376" cy="33832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D2B3A"/>
                </a:solidFill>
                <a:latin typeface="Aptos"/>
              </a:rPr>
              <a:t>Request 4 MiB; record actual values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949440" y="3776471"/>
            <a:ext cx="4242816" cy="42976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31736" y="3831335"/>
            <a:ext cx="4078224" cy="33832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D2B3A"/>
                </a:solidFill>
                <a:latin typeface="Aptos"/>
              </a:rPr>
              <a:t>Avoid hidden A/B buffer mismatch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85800" y="4206239"/>
            <a:ext cx="1947672" cy="429768"/>
          </a:xfrm>
          <a:prstGeom prst="rect">
            <a:avLst/>
          </a:prstGeom>
          <a:solidFill>
            <a:srgbClr val="EAF2F8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68096" y="4261103"/>
            <a:ext cx="1783080" cy="33832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D2B3A"/>
                </a:solidFill>
                <a:latin typeface="Aptos"/>
              </a:rPr>
              <a:t>Repetitions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633472" y="4206239"/>
            <a:ext cx="4315968" cy="429768"/>
          </a:xfrm>
          <a:prstGeom prst="rect">
            <a:avLst/>
          </a:prstGeom>
          <a:solidFill>
            <a:srgbClr val="EAF2F8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15768" y="4261103"/>
            <a:ext cx="4151376" cy="33832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D2B3A"/>
                </a:solidFill>
                <a:latin typeface="Aptos"/>
              </a:rPr>
              <a:t>At least 5 paired runs per size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949440" y="4206239"/>
            <a:ext cx="4242816" cy="429768"/>
          </a:xfrm>
          <a:prstGeom prst="rect">
            <a:avLst/>
          </a:prstGeom>
          <a:solidFill>
            <a:srgbClr val="EAF2F8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031736" y="4261103"/>
            <a:ext cx="4078224" cy="33832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D2B3A"/>
                </a:solidFill>
                <a:latin typeface="Aptos"/>
              </a:rPr>
              <a:t>Expose run-to-run variability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85800" y="4636007"/>
            <a:ext cx="1947672" cy="42976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68096" y="4690871"/>
            <a:ext cx="1783080" cy="33832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D2B3A"/>
                </a:solidFill>
                <a:latin typeface="Aptos"/>
              </a:rPr>
              <a:t>Order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633472" y="4636007"/>
            <a:ext cx="4315968" cy="42976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715768" y="4690871"/>
            <a:ext cx="4151376" cy="33832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D2B3A"/>
                </a:solidFill>
                <a:latin typeface="Aptos"/>
              </a:rPr>
              <a:t>Alternate Python→C and C→Python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949440" y="4636007"/>
            <a:ext cx="4242816" cy="42976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031736" y="4690871"/>
            <a:ext cx="4078224" cy="33832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D2B3A"/>
                </a:solidFill>
                <a:latin typeface="Aptos"/>
              </a:rPr>
              <a:t>Reduce warm-up / thermal / time-order bias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85800" y="5065775"/>
            <a:ext cx="1947672" cy="429768"/>
          </a:xfrm>
          <a:prstGeom prst="rect">
            <a:avLst/>
          </a:prstGeom>
          <a:solidFill>
            <a:srgbClr val="EAF2F8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68096" y="5120639"/>
            <a:ext cx="1783080" cy="33832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D2B3A"/>
                </a:solidFill>
                <a:latin typeface="Aptos"/>
              </a:rPr>
              <a:t>Environment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633472" y="5065775"/>
            <a:ext cx="4315968" cy="429768"/>
          </a:xfrm>
          <a:prstGeom prst="rect">
            <a:avLst/>
          </a:prstGeom>
          <a:solidFill>
            <a:srgbClr val="EAF2F8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15768" y="5120639"/>
            <a:ext cx="4151376" cy="33832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D2B3A"/>
                </a:solidFill>
                <a:latin typeface="Aptos"/>
              </a:rPr>
              <a:t>Same wired host, board image, link, port, background load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949440" y="5065775"/>
            <a:ext cx="4242816" cy="429768"/>
          </a:xfrm>
          <a:prstGeom prst="rect">
            <a:avLst/>
          </a:prstGeom>
          <a:solidFill>
            <a:srgbClr val="EAF2F8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031736" y="5120639"/>
            <a:ext cx="4078224" cy="33832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D2B3A"/>
                </a:solidFill>
                <a:latin typeface="Aptos"/>
              </a:rPr>
              <a:t>Hold non-treatment variables constant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22960" y="5504688"/>
            <a:ext cx="10497312" cy="502920"/>
          </a:xfrm>
          <a:prstGeom prst="roundRect">
            <a:avLst>
              <a:gd name="adj" fmla="val 10000"/>
            </a:avLst>
          </a:prstGeom>
          <a:solidFill>
            <a:srgbClr val="FF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24128" y="5632704"/>
            <a:ext cx="10076688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 i="0">
                <a:solidFill>
                  <a:srgbClr val="10243A"/>
                </a:solidFill>
                <a:latin typeface="Aptos"/>
              </a:rPr>
              <a:t>Record negotiated Ethernet rate; do not call application goodput “1 Gb/s line rate.”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1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38404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 i="0">
                <a:solidFill>
                  <a:srgbClr val="11B5A4"/>
                </a:solidFill>
                <a:latin typeface="Aptos"/>
              </a:rPr>
              <a:t>05  | 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110996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500" b="1" i="0">
                <a:solidFill>
                  <a:srgbClr val="10243A"/>
                </a:solidFill>
                <a:latin typeface="Aptos"/>
              </a:rPr>
              <a:t>Expected change vs verified improvement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15568"/>
            <a:ext cx="109728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637487"/>
                </a:solidFill>
                <a:latin typeface="Aptos"/>
              </a:rPr>
              <a:t>Separate the mechanism you implemented from what the data proves.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492240"/>
            <a:ext cx="11183112" cy="0"/>
          </a:xfrm>
          <a:prstGeom prst="line">
            <a:avLst/>
          </a:prstGeom>
          <a:ln w="10160">
            <a:solidFill>
              <a:srgbClr val="D8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547104"/>
            <a:ext cx="69494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637487"/>
                </a:solidFill>
                <a:latin typeface="Aptos"/>
              </a:rPr>
              <a:t>PYNQ-Z2  |  PS UDP performance study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3968" y="6528816"/>
            <a:ext cx="4572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637487"/>
                </a:solidFill>
                <a:latin typeface="Aptos"/>
              </a:rPr>
              <a:t>12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737360"/>
            <a:ext cx="3063240" cy="438912"/>
          </a:xfrm>
          <a:prstGeom prst="rect">
            <a:avLst/>
          </a:prstGeom>
          <a:solidFill>
            <a:srgbClr val="10243A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5" y="1792224"/>
            <a:ext cx="2898648" cy="347472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Implementation delta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03320" y="1737360"/>
            <a:ext cx="3886200" cy="438912"/>
          </a:xfrm>
          <a:prstGeom prst="rect">
            <a:avLst/>
          </a:prstGeom>
          <a:solidFill>
            <a:srgbClr val="10243A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85615" y="1792224"/>
            <a:ext cx="3721608" cy="347472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Potential benefit (hypothesis)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89520" y="1737360"/>
            <a:ext cx="3547872" cy="438912"/>
          </a:xfrm>
          <a:prstGeom prst="rect">
            <a:avLst/>
          </a:prstGeom>
          <a:solidFill>
            <a:srgbClr val="10243A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71816" y="1792224"/>
            <a:ext cx="3383279" cy="347472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Evidence required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176272"/>
            <a:ext cx="3063240" cy="832104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5" y="2231136"/>
            <a:ext cx="2898648" cy="740664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D2B3A"/>
                </a:solidFill>
                <a:latin typeface="Aptos"/>
              </a:rPr>
              <a:t>recvmmsg() receives multiple queued UDP datagrams in one call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703320" y="2176272"/>
            <a:ext cx="3886200" cy="832104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85615" y="2231136"/>
            <a:ext cx="3721608" cy="740664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D2B3A"/>
                </a:solidFill>
                <a:latin typeface="Aptos"/>
              </a:rPr>
              <a:t>Fewer receive syscalls per packet; lower server CPU per datagram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589520" y="2176272"/>
            <a:ext cx="3547872" cy="832104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71816" y="2231136"/>
            <a:ext cx="3383279" cy="740664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D2B3A"/>
                </a:solidFill>
                <a:latin typeface="Aptos"/>
              </a:rPr>
              <a:t>C process CPU + packets/s under matched traffic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008376"/>
            <a:ext cx="3063240" cy="832104"/>
          </a:xfrm>
          <a:prstGeom prst="rect">
            <a:avLst/>
          </a:prstGeom>
          <a:solidFill>
            <a:srgbClr val="EAF2F8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5" y="3063240"/>
            <a:ext cx="2898648" cy="740664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D2B3A"/>
                </a:solidFill>
                <a:latin typeface="Aptos"/>
              </a:rPr>
              <a:t>sendmmsg() sends multiple datagrams in one call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703320" y="3008376"/>
            <a:ext cx="3886200" cy="832104"/>
          </a:xfrm>
          <a:prstGeom prst="rect">
            <a:avLst/>
          </a:prstGeom>
          <a:solidFill>
            <a:srgbClr val="EAF2F8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85615" y="3063240"/>
            <a:ext cx="3721608" cy="740664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D2B3A"/>
                </a:solidFill>
                <a:latin typeface="Aptos"/>
              </a:rPr>
              <a:t>Fewer transmit syscalls; higher reply rate at high packet rate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89520" y="3008376"/>
            <a:ext cx="3547872" cy="832104"/>
          </a:xfrm>
          <a:prstGeom prst="rect">
            <a:avLst/>
          </a:prstGeom>
          <a:solidFill>
            <a:srgbClr val="EAF2F8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71816" y="3063240"/>
            <a:ext cx="3383279" cy="740664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D2B3A"/>
                </a:solidFill>
                <a:latin typeface="Aptos"/>
              </a:rPr>
              <a:t>Median goodput/replies/s; verify partial-send handling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3840480"/>
            <a:ext cx="3063240" cy="832104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2375" y="3895344"/>
            <a:ext cx="2898648" cy="740664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D2B3A"/>
                </a:solidFill>
                <a:latin typeface="Aptos"/>
              </a:rPr>
              <a:t>Reusable arrays and buffers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703320" y="3840480"/>
            <a:ext cx="3886200" cy="832104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85615" y="3895344"/>
            <a:ext cx="3721608" cy="740664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D2B3A"/>
                </a:solidFill>
                <a:latin typeface="Aptos"/>
              </a:rPr>
              <a:t>Less per-packet setup/allocation work in the loop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89520" y="3840480"/>
            <a:ext cx="3547872" cy="832104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71816" y="3895344"/>
            <a:ext cx="3383279" cy="740664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D2B3A"/>
                </a:solidFill>
                <a:latin typeface="Aptos"/>
              </a:rPr>
              <a:t>Code review + CPU / rate data; no payload corruption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4672584"/>
            <a:ext cx="3063240" cy="832104"/>
          </a:xfrm>
          <a:prstGeom prst="rect">
            <a:avLst/>
          </a:prstGeom>
          <a:solidFill>
            <a:srgbClr val="EAF2F8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2375" y="4727448"/>
            <a:ext cx="2898648" cy="740664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D2B3A"/>
                </a:solidFill>
                <a:latin typeface="Aptos"/>
              </a:rPr>
              <a:t>One measurement harness for A and B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03320" y="4672584"/>
            <a:ext cx="3886200" cy="832104"/>
          </a:xfrm>
          <a:prstGeom prst="rect">
            <a:avLst/>
          </a:prstGeom>
          <a:solidFill>
            <a:srgbClr val="EAF2F8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785615" y="4727448"/>
            <a:ext cx="3721608" cy="740664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D2B3A"/>
                </a:solidFill>
                <a:latin typeface="Aptos"/>
              </a:rPr>
              <a:t>Results become directly comparable and reproducible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589520" y="4672584"/>
            <a:ext cx="3547872" cy="832104"/>
          </a:xfrm>
          <a:prstGeom prst="rect">
            <a:avLst/>
          </a:prstGeom>
          <a:solidFill>
            <a:srgbClr val="EAF2F8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71816" y="4727448"/>
            <a:ext cx="3383279" cy="740664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D2B3A"/>
                </a:solidFill>
                <a:latin typeface="Aptos"/>
              </a:rPr>
              <a:t>Same JSON fields, sequence checks, config and test schedule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86384" y="5522976"/>
            <a:ext cx="10607040" cy="566928"/>
          </a:xfrm>
          <a:prstGeom prst="roundRect">
            <a:avLst>
              <a:gd name="adj" fmla="val 10000"/>
            </a:avLst>
          </a:prstGeom>
          <a:solidFill>
            <a:srgbClr val="10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42415" y="5669280"/>
            <a:ext cx="101041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Aptos"/>
              </a:rPr>
              <a:t>Candidate ≠ proven faster. Only board measurements can support an improvement claim.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1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38404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 i="0">
                <a:solidFill>
                  <a:srgbClr val="11B5A4"/>
                </a:solidFill>
                <a:latin typeface="Aptos"/>
              </a:rPr>
              <a:t>05  | 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110996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500" b="1" i="0">
                <a:solidFill>
                  <a:srgbClr val="10243A"/>
                </a:solidFill>
                <a:latin typeface="Aptos"/>
              </a:rPr>
              <a:t>How to prove the candidate is better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15568"/>
            <a:ext cx="109728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637487"/>
                </a:solidFill>
                <a:latin typeface="Aptos"/>
              </a:rPr>
              <a:t>Define success before looking at the results.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492240"/>
            <a:ext cx="11183112" cy="0"/>
          </a:xfrm>
          <a:prstGeom prst="line">
            <a:avLst/>
          </a:prstGeom>
          <a:ln w="10160">
            <a:solidFill>
              <a:srgbClr val="D8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547104"/>
            <a:ext cx="69494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637487"/>
                </a:solidFill>
                <a:latin typeface="Aptos"/>
              </a:rPr>
              <a:t>PYNQ-Z2  |  PS UDP performance study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3968" y="6528816"/>
            <a:ext cx="4572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637487"/>
                </a:solidFill>
                <a:latin typeface="Aptos"/>
              </a:rP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719072"/>
            <a:ext cx="672084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D8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32688" y="1901952"/>
            <a:ext cx="365760" cy="274320"/>
          </a:xfrm>
          <a:prstGeom prst="roundRect">
            <a:avLst>
              <a:gd name="adj" fmla="val 10000"/>
            </a:avLst>
          </a:prstGeom>
          <a:solidFill>
            <a:srgbClr val="11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920240"/>
            <a:ext cx="2743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81328" y="1847088"/>
            <a:ext cx="1956816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0243A"/>
                </a:solidFill>
                <a:latin typeface="Aptos"/>
              </a:rPr>
              <a:t>Correctness gate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6432" y="1828800"/>
            <a:ext cx="3767328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637487"/>
                </a:solidFill>
                <a:latin typeface="Aptos"/>
              </a:rPr>
              <a:t>100% exact payload echoes in the integrity test; zero corrupt replies in benchmark.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2587752"/>
            <a:ext cx="672084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D8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32688" y="2770632"/>
            <a:ext cx="365760" cy="274320"/>
          </a:xfrm>
          <a:prstGeom prst="roundRect">
            <a:avLst>
              <a:gd name="adj" fmla="val 10000"/>
            </a:avLst>
          </a:prstGeom>
          <a:solidFill>
            <a:srgbClr val="11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8408" y="2788920"/>
            <a:ext cx="2743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81328" y="2715768"/>
            <a:ext cx="1956816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0243A"/>
                </a:solidFill>
                <a:latin typeface="Aptos"/>
              </a:rPr>
              <a:t>Performance gate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56432" y="2697480"/>
            <a:ext cx="3767328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637487"/>
                </a:solidFill>
                <a:latin typeface="Aptos"/>
              </a:rPr>
              <a:t>Median goodput or valid replies/s improves consistently across paired trials.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8" y="3456432"/>
            <a:ext cx="672084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D8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32688" y="3639312"/>
            <a:ext cx="365760" cy="274320"/>
          </a:xfrm>
          <a:prstGeom prst="roundRect">
            <a:avLst>
              <a:gd name="adj" fmla="val 10000"/>
            </a:avLst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8408" y="3657600"/>
            <a:ext cx="2743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81328" y="3584448"/>
            <a:ext cx="1956816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0243A"/>
                </a:solidFill>
                <a:latin typeface="Aptos"/>
              </a:rPr>
              <a:t>Reliability gate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56432" y="3566160"/>
            <a:ext cx="3767328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637487"/>
                </a:solidFill>
                <a:latin typeface="Aptos"/>
              </a:rPr>
              <a:t>No unacceptable loss increase; disclose loss and all excluded/failed runs.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9808" y="4325112"/>
            <a:ext cx="672084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D8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32688" y="4507992"/>
            <a:ext cx="365760" cy="274320"/>
          </a:xfrm>
          <a:prstGeom prst="roundRect">
            <a:avLst>
              <a:gd name="adj" fmla="val 10000"/>
            </a:avLst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8408" y="4526279"/>
            <a:ext cx="2743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81328" y="4453127"/>
            <a:ext cx="1956816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0243A"/>
                </a:solidFill>
                <a:latin typeface="Aptos"/>
              </a:rPr>
              <a:t>Trade-off gate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56432" y="4434840"/>
            <a:ext cx="3767328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637487"/>
                </a:solidFill>
                <a:latin typeface="Aptos"/>
              </a:rPr>
              <a:t>Show RTT and CPU alongside throughput—do not hide regressions.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827264" y="1719072"/>
            <a:ext cx="3493008" cy="3319272"/>
          </a:xfrm>
          <a:prstGeom prst="roundRect">
            <a:avLst>
              <a:gd name="adj" fmla="val 10000"/>
            </a:avLst>
          </a:prstGeom>
          <a:solidFill>
            <a:srgbClr val="E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01583" y="1975104"/>
            <a:ext cx="297180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 i="0">
                <a:solidFill>
                  <a:srgbClr val="10243A"/>
                </a:solidFill>
                <a:latin typeface="Aptos"/>
              </a:rPr>
              <a:t>Report the paired change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47304" y="2615184"/>
            <a:ext cx="2852928" cy="11247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 i="0">
                <a:solidFill>
                  <a:srgbClr val="11B5A4"/>
                </a:solidFill>
                <a:latin typeface="Aptos"/>
              </a:rPr>
              <a:t>Improvement % =</a:t>
            </a:r>
          </a:p>
          <a:p>
            <a:pPr algn="ctr">
              <a:spcAft>
                <a:spcPts val="300"/>
              </a:spcAft>
            </a:pPr>
            <a:r>
              <a:rPr sz="1500" b="1" i="0">
                <a:solidFill>
                  <a:srgbClr val="11B5A4"/>
                </a:solidFill>
                <a:latin typeface="Aptos"/>
              </a:rPr>
              <a:t>(median_C − median_Python)</a:t>
            </a:r>
          </a:p>
          <a:p>
            <a:pPr algn="ctr">
              <a:spcAft>
                <a:spcPts val="300"/>
              </a:spcAft>
            </a:pPr>
            <a:r>
              <a:rPr sz="1500" b="1" i="0">
                <a:solidFill>
                  <a:srgbClr val="11B5A4"/>
                </a:solidFill>
                <a:latin typeface="Aptos"/>
              </a:rPr>
              <a:t>÷ median_Python × 100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0" y="4005072"/>
            <a:ext cx="2834640" cy="7498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0" i="0">
                <a:solidFill>
                  <a:srgbClr val="637487"/>
                </a:solidFill>
                <a:latin typeface="Aptos"/>
              </a:rPr>
              <a:t>For loss, report percentage-point change. Show all repeated values or a box plot—not only the best run.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6112" y="5404104"/>
            <a:ext cx="102870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 i="0">
                <a:solidFill>
                  <a:srgbClr val="F0786B"/>
                </a:solidFill>
                <a:latin typeface="Aptos"/>
              </a:rPr>
              <a:t>If results are noisy or overlap, conclude “no clear improvement in this setup” and discuss why.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1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38404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 i="0">
                <a:solidFill>
                  <a:srgbClr val="11B5A4"/>
                </a:solidFill>
                <a:latin typeface="Aptos"/>
              </a:rPr>
              <a:t>06  | 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110996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500" b="1" i="0">
                <a:solidFill>
                  <a:srgbClr val="10243A"/>
                </a:solidFill>
                <a:latin typeface="Aptos"/>
              </a:rPr>
              <a:t>Tools and what each one proves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15568"/>
            <a:ext cx="109728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637487"/>
                </a:solidFill>
                <a:latin typeface="Aptos"/>
              </a:rPr>
              <a:t>This PS-based project does not need Vivado for its Ethernet data path.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492240"/>
            <a:ext cx="11183112" cy="0"/>
          </a:xfrm>
          <a:prstGeom prst="line">
            <a:avLst/>
          </a:prstGeom>
          <a:ln w="10160">
            <a:solidFill>
              <a:srgbClr val="D8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547104"/>
            <a:ext cx="69494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637487"/>
                </a:solidFill>
                <a:latin typeface="Aptos"/>
              </a:rPr>
              <a:t>PYNQ-Z2  |  PS UDP performance study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3968" y="6528816"/>
            <a:ext cx="4572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637487"/>
                </a:solidFill>
                <a:latin typeface="Aptos"/>
              </a:rPr>
              <a:t>14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1719072"/>
            <a:ext cx="2240280" cy="393192"/>
          </a:xfrm>
          <a:prstGeom prst="rect">
            <a:avLst/>
          </a:prstGeom>
          <a:solidFill>
            <a:srgbClr val="10243A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1773936"/>
            <a:ext cx="2075688" cy="301751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Tool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53512" y="1719072"/>
            <a:ext cx="4663440" cy="393192"/>
          </a:xfrm>
          <a:prstGeom prst="rect">
            <a:avLst/>
          </a:prstGeom>
          <a:solidFill>
            <a:srgbClr val="10243A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35808" y="1773936"/>
            <a:ext cx="4498848" cy="301751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Use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16952" y="1719072"/>
            <a:ext cx="3593592" cy="393192"/>
          </a:xfrm>
          <a:prstGeom prst="rect">
            <a:avLst/>
          </a:prstGeom>
          <a:solidFill>
            <a:srgbClr val="10243A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99248" y="1773936"/>
            <a:ext cx="3429000" cy="301751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Evidence produced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" y="2112264"/>
            <a:ext cx="2240280" cy="539496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2167128"/>
            <a:ext cx="2075688" cy="448056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D2B3A"/>
                </a:solidFill>
                <a:latin typeface="Aptos"/>
              </a:rPr>
              <a:t>PYNQ-Z2 + Linux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53512" y="2112264"/>
            <a:ext cx="4663440" cy="539496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35808" y="2167128"/>
            <a:ext cx="4498848" cy="448056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D2B3A"/>
                </a:solidFill>
                <a:latin typeface="Aptos"/>
              </a:rPr>
              <a:t>Run both servers on ARM/PS GEM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16952" y="2112264"/>
            <a:ext cx="3593592" cy="539496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99248" y="2167128"/>
            <a:ext cx="3429000" cy="448056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D2B3A"/>
                </a:solidFill>
                <a:latin typeface="Aptos"/>
              </a:rPr>
              <a:t>Board-side behavior and CPU environment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3232" y="2651760"/>
            <a:ext cx="2240280" cy="539496"/>
          </a:xfrm>
          <a:prstGeom prst="rect">
            <a:avLst/>
          </a:prstGeom>
          <a:solidFill>
            <a:srgbClr val="EAF2F8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8" y="2706624"/>
            <a:ext cx="2075688" cy="448056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D2B3A"/>
                </a:solidFill>
                <a:latin typeface="Aptos"/>
              </a:rPr>
              <a:t>GCC on PYNQ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53512" y="2651760"/>
            <a:ext cx="4663440" cy="539496"/>
          </a:xfrm>
          <a:prstGeom prst="rect">
            <a:avLst/>
          </a:prstGeom>
          <a:solidFill>
            <a:srgbClr val="EAF2F8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35808" y="2706624"/>
            <a:ext cx="4498848" cy="448056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D2B3A"/>
                </a:solidFill>
                <a:latin typeface="Aptos"/>
              </a:rPr>
              <a:t>Build C candidate using documented flags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16952" y="2651760"/>
            <a:ext cx="3593592" cy="539496"/>
          </a:xfrm>
          <a:prstGeom prst="rect">
            <a:avLst/>
          </a:prstGeom>
          <a:solidFill>
            <a:srgbClr val="EAF2F8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99248" y="2706624"/>
            <a:ext cx="3429000" cy="448056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D2B3A"/>
                </a:solidFill>
                <a:latin typeface="Aptos"/>
              </a:rPr>
              <a:t>Compiler and target environment are recorded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3232" y="3191256"/>
            <a:ext cx="2240280" cy="539496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5528" y="3246120"/>
            <a:ext cx="2075688" cy="448056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D2B3A"/>
                </a:solidFill>
                <a:latin typeface="Aptos"/>
              </a:rPr>
              <a:t>Host Python 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953512" y="3191256"/>
            <a:ext cx="4663440" cy="539496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35808" y="3246120"/>
            <a:ext cx="4498848" cy="448056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D2B3A"/>
                </a:solidFill>
                <a:latin typeface="Aptos"/>
              </a:rPr>
              <a:t>Loopback + same load generator for both servers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616952" y="3191256"/>
            <a:ext cx="3593592" cy="539496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99248" y="3246120"/>
            <a:ext cx="3429000" cy="448056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D2B3A"/>
                </a:solidFill>
                <a:latin typeface="Aptos"/>
              </a:rPr>
              <a:t>Integrity, sequence counts, RTT and rate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13232" y="3730752"/>
            <a:ext cx="2240280" cy="539496"/>
          </a:xfrm>
          <a:prstGeom prst="rect">
            <a:avLst/>
          </a:prstGeom>
          <a:solidFill>
            <a:srgbClr val="EAF2F8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5528" y="3785615"/>
            <a:ext cx="2075688" cy="448056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D2B3A"/>
                </a:solidFill>
                <a:latin typeface="Aptos"/>
              </a:rPr>
              <a:t>compare_results.py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53512" y="3730752"/>
            <a:ext cx="4663440" cy="539496"/>
          </a:xfrm>
          <a:prstGeom prst="rect">
            <a:avLst/>
          </a:prstGeom>
          <a:solidFill>
            <a:srgbClr val="EAF2F8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035808" y="3785615"/>
            <a:ext cx="4498848" cy="448056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D2B3A"/>
                </a:solidFill>
                <a:latin typeface="Aptos"/>
              </a:rPr>
              <a:t>Compute median metrics from JSONL files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616952" y="3730752"/>
            <a:ext cx="3593592" cy="539496"/>
          </a:xfrm>
          <a:prstGeom prst="rect">
            <a:avLst/>
          </a:prstGeom>
          <a:solidFill>
            <a:srgbClr val="EAF2F8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99248" y="3785615"/>
            <a:ext cx="3429000" cy="448056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D2B3A"/>
                </a:solidFill>
                <a:latin typeface="Aptos"/>
              </a:rPr>
              <a:t>Reproducible A/B summary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3232" y="4270248"/>
            <a:ext cx="2240280" cy="539496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95528" y="4325112"/>
            <a:ext cx="2075688" cy="448056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D2B3A"/>
                </a:solidFill>
                <a:latin typeface="Aptos"/>
              </a:rPr>
              <a:t>top / pidstat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953512" y="4270248"/>
            <a:ext cx="4663440" cy="539496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035808" y="4325112"/>
            <a:ext cx="4498848" cy="448056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D2B3A"/>
                </a:solidFill>
                <a:latin typeface="Aptos"/>
              </a:rPr>
              <a:t>Observe server CPU under load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616952" y="4270248"/>
            <a:ext cx="3593592" cy="539496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699248" y="4325112"/>
            <a:ext cx="3429000" cy="448056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D2B3A"/>
                </a:solidFill>
                <a:latin typeface="Aptos"/>
              </a:rPr>
              <a:t>CPU-use trade-off (if available)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13232" y="4809744"/>
            <a:ext cx="2240280" cy="539496"/>
          </a:xfrm>
          <a:prstGeom prst="rect">
            <a:avLst/>
          </a:prstGeom>
          <a:solidFill>
            <a:srgbClr val="EAF2F8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95528" y="4864607"/>
            <a:ext cx="2075688" cy="448056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D2B3A"/>
                </a:solidFill>
                <a:latin typeface="Aptos"/>
              </a:rPr>
              <a:t>Wireshark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953512" y="4809744"/>
            <a:ext cx="4663440" cy="539496"/>
          </a:xfrm>
          <a:prstGeom prst="rect">
            <a:avLst/>
          </a:prstGeom>
          <a:solidFill>
            <a:srgbClr val="EAF2F8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035808" y="4864607"/>
            <a:ext cx="4498848" cy="448056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D2B3A"/>
                </a:solidFill>
                <a:latin typeface="Aptos"/>
              </a:rPr>
              <a:t>Capture host Ethernet interface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616952" y="4809744"/>
            <a:ext cx="3593592" cy="539496"/>
          </a:xfrm>
          <a:prstGeom prst="rect">
            <a:avLst/>
          </a:prstGeom>
          <a:solidFill>
            <a:srgbClr val="EAF2F8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699248" y="4864607"/>
            <a:ext cx="3429000" cy="448056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D2B3A"/>
                </a:solidFill>
                <a:latin typeface="Aptos"/>
              </a:rPr>
              <a:t>Check ARP, UDP source/destination and packet sizes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13232" y="5349240"/>
            <a:ext cx="2240280" cy="539496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95528" y="5404103"/>
            <a:ext cx="2075688" cy="448056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D2B3A"/>
                </a:solidFill>
                <a:latin typeface="Aptos"/>
              </a:rPr>
              <a:t>Git + results/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53512" y="5349240"/>
            <a:ext cx="4663440" cy="539496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35808" y="5404103"/>
            <a:ext cx="4498848" cy="448056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D2B3A"/>
                </a:solidFill>
                <a:latin typeface="Aptos"/>
              </a:rPr>
              <a:t>Version code, raw logs, configs and report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616952" y="5349240"/>
            <a:ext cx="3593592" cy="539496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699248" y="5404103"/>
            <a:ext cx="3429000" cy="448056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D2B3A"/>
                </a:solidFill>
                <a:latin typeface="Aptos"/>
              </a:rPr>
              <a:t>Reproducibility and review trail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86384" y="5797296"/>
            <a:ext cx="10497312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637487"/>
                </a:solidFill>
                <a:latin typeface="Aptos"/>
              </a:rPr>
              <a:t>Vivado/JTAG is not in scope: it cannot route the onboard PS Ethernet jack into custom PL logic.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1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38404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 i="0">
                <a:solidFill>
                  <a:srgbClr val="11B5A4"/>
                </a:solidFill>
                <a:latin typeface="Aptos"/>
              </a:rPr>
              <a:t>06  | 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110996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500" b="1" i="0">
                <a:solidFill>
                  <a:srgbClr val="10243A"/>
                </a:solidFill>
                <a:latin typeface="Aptos"/>
              </a:rPr>
              <a:t>Execution plan and deliverables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15568"/>
            <a:ext cx="109728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637487"/>
                </a:solidFill>
                <a:latin typeface="Aptos"/>
              </a:rPr>
              <a:t>A sequence that gets a defensible result before presentation day.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492240"/>
            <a:ext cx="11183112" cy="0"/>
          </a:xfrm>
          <a:prstGeom prst="line">
            <a:avLst/>
          </a:prstGeom>
          <a:ln w="10160">
            <a:solidFill>
              <a:srgbClr val="D8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547104"/>
            <a:ext cx="69494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637487"/>
                </a:solidFill>
                <a:latin typeface="Aptos"/>
              </a:rPr>
              <a:t>PYNQ-Z2  |  PS UDP performance study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3968" y="6528816"/>
            <a:ext cx="4572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637487"/>
                </a:solidFill>
                <a:latin typeface="Aptos"/>
              </a:rP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737360"/>
            <a:ext cx="10625328" cy="6309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D8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32688" y="1892807"/>
            <a:ext cx="384048" cy="274320"/>
          </a:xfrm>
          <a:prstGeom prst="roundRect">
            <a:avLst>
              <a:gd name="adj" fmla="val 10000"/>
            </a:avLst>
          </a:prstGeom>
          <a:solidFill>
            <a:srgbClr val="11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911095"/>
            <a:ext cx="292607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10243A"/>
                </a:solidFill>
                <a:latin typeface="Aptos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1837943"/>
            <a:ext cx="1938528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0243A"/>
                </a:solidFill>
                <a:latin typeface="Aptos"/>
              </a:rPr>
              <a:t>Environment 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3008" y="1828800"/>
            <a:ext cx="5074920" cy="4114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637487"/>
                </a:solidFill>
                <a:latin typeface="Aptos"/>
              </a:rPr>
              <a:t>Boot/network, identify IP and link, verify GCC + Linux APIs.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41080" y="1865376"/>
            <a:ext cx="2414016" cy="3200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1" i="0">
                <a:solidFill>
                  <a:srgbClr val="11B5A4"/>
                </a:solidFill>
                <a:latin typeface="Aptos"/>
              </a:rPr>
              <a:t>Log system versions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9808" y="2523744"/>
            <a:ext cx="10625328" cy="6309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D8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32688" y="2679191"/>
            <a:ext cx="384048" cy="274320"/>
          </a:xfrm>
          <a:prstGeom prst="roundRect">
            <a:avLst>
              <a:gd name="adj" fmla="val 10000"/>
            </a:avLst>
          </a:prstGeom>
          <a:solidFill>
            <a:srgbClr val="58C8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8408" y="2697479"/>
            <a:ext cx="292607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10243A"/>
                </a:solidFill>
                <a:latin typeface="Aptos"/>
              </a:rPr>
              <a:t>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2624327"/>
            <a:ext cx="1938528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0243A"/>
                </a:solidFill>
                <a:latin typeface="Aptos"/>
              </a:rPr>
              <a:t>Build + functional test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615184"/>
            <a:ext cx="5074920" cy="4114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637487"/>
                </a:solidFill>
                <a:latin typeface="Aptos"/>
              </a:rPr>
              <a:t>Compile C server; run exact-echo test against A and B.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41080" y="2651760"/>
            <a:ext cx="2414016" cy="3200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1" i="0">
                <a:solidFill>
                  <a:srgbClr val="58C8D2"/>
                </a:solidFill>
                <a:latin typeface="Aptos"/>
              </a:rPr>
              <a:t>Save commands/logs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9808" y="3310128"/>
            <a:ext cx="10625328" cy="6309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D8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32688" y="3465576"/>
            <a:ext cx="384048" cy="274320"/>
          </a:xfrm>
          <a:prstGeom prst="roundRect">
            <a:avLst>
              <a:gd name="adj" fmla="val 10000"/>
            </a:avLst>
          </a:prstGeom>
          <a:solidFill>
            <a:srgbClr val="F2B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8408" y="3483864"/>
            <a:ext cx="292607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10243A"/>
                </a:solidFill>
                <a:latin typeface="Aptos"/>
              </a:rPr>
              <a:t>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3410712"/>
            <a:ext cx="1938528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0243A"/>
                </a:solidFill>
                <a:latin typeface="Aptos"/>
              </a:rPr>
              <a:t>Benchmark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93008" y="3401568"/>
            <a:ext cx="5074920" cy="4114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637487"/>
                </a:solidFill>
                <a:latin typeface="Aptos"/>
              </a:rPr>
              <a:t>3 payload sizes × 5+ repeats × alternating A/B order.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41080" y="3438144"/>
            <a:ext cx="2414016" cy="3200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1" i="0">
                <a:solidFill>
                  <a:srgbClr val="F2B84B"/>
                </a:solidFill>
                <a:latin typeface="Aptos"/>
              </a:rPr>
              <a:t>Save JSONL files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9808" y="4096512"/>
            <a:ext cx="10625328" cy="6309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D8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32688" y="4251960"/>
            <a:ext cx="384048" cy="274320"/>
          </a:xfrm>
          <a:prstGeom prst="roundRect">
            <a:avLst>
              <a:gd name="adj" fmla="val 10000"/>
            </a:avLst>
          </a:prstGeom>
          <a:solidFill>
            <a:srgbClr val="47B8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8408" y="4270248"/>
            <a:ext cx="292607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10243A"/>
                </a:solidFill>
                <a:latin typeface="Aptos"/>
              </a:rPr>
              <a:t>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54480" y="4197096"/>
            <a:ext cx="1938528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0243A"/>
                </a:solidFill>
                <a:latin typeface="Aptos"/>
              </a:rPr>
              <a:t>Analyze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93008" y="4187952"/>
            <a:ext cx="5074920" cy="4114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637487"/>
                </a:solidFill>
                <a:latin typeface="Aptos"/>
              </a:rPr>
              <a:t>Compare medians, run-to-run spread, loss, RTT and CPU.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41080" y="4224528"/>
            <a:ext cx="2414016" cy="3200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1" i="0">
                <a:solidFill>
                  <a:srgbClr val="47B881"/>
                </a:solidFill>
                <a:latin typeface="Aptos"/>
              </a:rPr>
              <a:t>Create figures/table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49808" y="4882896"/>
            <a:ext cx="10625328" cy="6309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D8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932688" y="5038344"/>
            <a:ext cx="384048" cy="274320"/>
          </a:xfrm>
          <a:prstGeom prst="roundRect">
            <a:avLst>
              <a:gd name="adj" fmla="val 10000"/>
            </a:avLst>
          </a:prstGeom>
          <a:solidFill>
            <a:srgbClr val="F07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8408" y="5056631"/>
            <a:ext cx="292607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10243A"/>
                </a:solidFill>
                <a:latin typeface="Aptos"/>
              </a:rPr>
              <a:t>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54480" y="4983480"/>
            <a:ext cx="1938528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0243A"/>
                </a:solidFill>
                <a:latin typeface="Aptos"/>
              </a:rPr>
              <a:t>Conclude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93008" y="4974336"/>
            <a:ext cx="5074920" cy="4114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637487"/>
                </a:solidFill>
                <a:latin typeface="Aptos"/>
              </a:rPr>
              <a:t>Explain whether batching helped on this setup and limitations.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41080" y="5010912"/>
            <a:ext cx="2414016" cy="3200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1" i="0">
                <a:solidFill>
                  <a:srgbClr val="F0786B"/>
                </a:solidFill>
                <a:latin typeface="Aptos"/>
              </a:rPr>
              <a:t>Complete results report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1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38404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 i="0">
                <a:solidFill>
                  <a:srgbClr val="11B5A4"/>
                </a:solidFill>
                <a:latin typeface="Aptos"/>
              </a:rPr>
              <a:t>07  | 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110996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500" b="1" i="0">
                <a:solidFill>
                  <a:srgbClr val="10243A"/>
                </a:solidFill>
                <a:latin typeface="Aptos"/>
              </a:rPr>
              <a:t>Results slide: fill only after board testing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15568"/>
            <a:ext cx="109728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637487"/>
                </a:solidFill>
                <a:latin typeface="Aptos"/>
              </a:rPr>
              <a:t>No board measurements are available yet. This slide is a reporting template, not a result.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492240"/>
            <a:ext cx="11183112" cy="0"/>
          </a:xfrm>
          <a:prstGeom prst="line">
            <a:avLst/>
          </a:prstGeom>
          <a:ln w="10160">
            <a:solidFill>
              <a:srgbClr val="D8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547104"/>
            <a:ext cx="69494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637487"/>
                </a:solidFill>
                <a:latin typeface="Aptos"/>
              </a:rPr>
              <a:t>PYNQ-Z2  |  PS UDP performance study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3968" y="6528816"/>
            <a:ext cx="4572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637487"/>
                </a:solidFill>
                <a:latin typeface="Aptos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48088" y="338328"/>
            <a:ext cx="1325880" cy="274320"/>
          </a:xfrm>
          <a:prstGeom prst="roundRect">
            <a:avLst>
              <a:gd name="adj" fmla="val 10000"/>
            </a:avLst>
          </a:prstGeom>
          <a:solidFill>
            <a:srgbClr val="F07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93808" y="356616"/>
            <a:ext cx="1234439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DATA PENDING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746504"/>
            <a:ext cx="1097280" cy="438912"/>
          </a:xfrm>
          <a:prstGeom prst="rect">
            <a:avLst/>
          </a:prstGeom>
          <a:solidFill>
            <a:srgbClr val="10243A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2375" y="1801368"/>
            <a:ext cx="932688" cy="347472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Payload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37360" y="1746504"/>
            <a:ext cx="1920240" cy="438912"/>
          </a:xfrm>
          <a:prstGeom prst="rect">
            <a:avLst/>
          </a:prstGeom>
          <a:solidFill>
            <a:srgbClr val="10243A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19656" y="1801368"/>
            <a:ext cx="1755648" cy="347472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Variant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0" y="1746504"/>
            <a:ext cx="1938528" cy="438912"/>
          </a:xfrm>
          <a:prstGeom prst="rect">
            <a:avLst/>
          </a:prstGeom>
          <a:solidFill>
            <a:srgbClr val="10243A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39896" y="1801368"/>
            <a:ext cx="1773936" cy="347472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Median replies/s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96128" y="1746504"/>
            <a:ext cx="1600200" cy="438912"/>
          </a:xfrm>
          <a:prstGeom prst="rect">
            <a:avLst/>
          </a:prstGeom>
          <a:solidFill>
            <a:srgbClr val="10243A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78424" y="1801368"/>
            <a:ext cx="1435608" cy="347472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Goodput Mbps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96328" y="1746504"/>
            <a:ext cx="1234440" cy="438912"/>
          </a:xfrm>
          <a:prstGeom prst="rect">
            <a:avLst/>
          </a:prstGeom>
          <a:solidFill>
            <a:srgbClr val="10243A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78624" y="1801368"/>
            <a:ext cx="1069848" cy="347472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Loss 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30768" y="1746504"/>
            <a:ext cx="1508760" cy="438912"/>
          </a:xfrm>
          <a:prstGeom prst="rect">
            <a:avLst/>
          </a:prstGeom>
          <a:solidFill>
            <a:srgbClr val="10243A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13064" y="1801368"/>
            <a:ext cx="1344168" cy="347472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p95 RTT ms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939528" y="1746504"/>
            <a:ext cx="1005840" cy="438912"/>
          </a:xfrm>
          <a:prstGeom prst="rect">
            <a:avLst/>
          </a:prstGeom>
          <a:solidFill>
            <a:srgbClr val="10243A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21824" y="1801368"/>
            <a:ext cx="841248" cy="347472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CPU 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2185416"/>
            <a:ext cx="1097280" cy="502920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5" y="2240280"/>
            <a:ext cx="932688" cy="41148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D2B3A"/>
                </a:solidFill>
                <a:latin typeface="Aptos"/>
              </a:rPr>
              <a:t>64 B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737360" y="2185416"/>
            <a:ext cx="1920240" cy="502920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819656" y="2240280"/>
            <a:ext cx="1755648" cy="41148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D2B3A"/>
                </a:solidFill>
                <a:latin typeface="Aptos"/>
              </a:rPr>
              <a:t>Python baseline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0" y="2185416"/>
            <a:ext cx="1938528" cy="502920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39896" y="2240280"/>
            <a:ext cx="1773936" cy="41148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D2B3A"/>
                </a:solidFill>
                <a:latin typeface="Aptos"/>
              </a:rPr>
              <a:t>—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596128" y="2185416"/>
            <a:ext cx="1600200" cy="502920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78424" y="2240280"/>
            <a:ext cx="1435608" cy="41148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D2B3A"/>
                </a:solidFill>
                <a:latin typeface="Aptos"/>
              </a:rPr>
              <a:t>—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196328" y="2185416"/>
            <a:ext cx="1234440" cy="502920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78624" y="2240280"/>
            <a:ext cx="1069848" cy="41148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D2B3A"/>
                </a:solidFill>
                <a:latin typeface="Aptos"/>
              </a:rP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430768" y="2185416"/>
            <a:ext cx="1508760" cy="502920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13064" y="2240280"/>
            <a:ext cx="1344168" cy="41148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D2B3A"/>
                </a:solidFill>
                <a:latin typeface="Aptos"/>
              </a:rPr>
              <a:t>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939528" y="2185416"/>
            <a:ext cx="1005840" cy="502920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21824" y="2240280"/>
            <a:ext cx="841248" cy="41148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D2B3A"/>
                </a:solidFill>
                <a:latin typeface="Aptos"/>
              </a:rPr>
              <a:t>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2688336"/>
            <a:ext cx="1097280" cy="502920"/>
          </a:xfrm>
          <a:prstGeom prst="rect">
            <a:avLst/>
          </a:prstGeom>
          <a:solidFill>
            <a:srgbClr val="EAF2F8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22375" y="2743200"/>
            <a:ext cx="932688" cy="41148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D2B3A"/>
                </a:solidFill>
                <a:latin typeface="Aptos"/>
              </a:rPr>
              <a:t>64 B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737360" y="2688336"/>
            <a:ext cx="1920240" cy="502920"/>
          </a:xfrm>
          <a:prstGeom prst="rect">
            <a:avLst/>
          </a:prstGeom>
          <a:solidFill>
            <a:srgbClr val="EAF2F8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819656" y="2743200"/>
            <a:ext cx="1755648" cy="41148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D2B3A"/>
                </a:solidFill>
                <a:latin typeface="Aptos"/>
              </a:rPr>
              <a:t>Batched C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0" y="2688336"/>
            <a:ext cx="1938528" cy="502920"/>
          </a:xfrm>
          <a:prstGeom prst="rect">
            <a:avLst/>
          </a:prstGeom>
          <a:solidFill>
            <a:srgbClr val="EAF2F8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739896" y="2743200"/>
            <a:ext cx="1773936" cy="41148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D2B3A"/>
                </a:solidFill>
                <a:latin typeface="Aptos"/>
              </a:rPr>
              <a:t>—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596128" y="2688336"/>
            <a:ext cx="1600200" cy="502920"/>
          </a:xfrm>
          <a:prstGeom prst="rect">
            <a:avLst/>
          </a:prstGeom>
          <a:solidFill>
            <a:srgbClr val="EAF2F8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78424" y="2743200"/>
            <a:ext cx="1435608" cy="41148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D2B3A"/>
                </a:solidFill>
                <a:latin typeface="Aptos"/>
              </a:rPr>
              <a:t>—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196328" y="2688336"/>
            <a:ext cx="1234440" cy="502920"/>
          </a:xfrm>
          <a:prstGeom prst="rect">
            <a:avLst/>
          </a:prstGeom>
          <a:solidFill>
            <a:srgbClr val="EAF2F8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278624" y="2743200"/>
            <a:ext cx="1069848" cy="41148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D2B3A"/>
                </a:solidFill>
                <a:latin typeface="Aptos"/>
              </a:rPr>
              <a:t>—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430768" y="2688336"/>
            <a:ext cx="1508760" cy="502920"/>
          </a:xfrm>
          <a:prstGeom prst="rect">
            <a:avLst/>
          </a:prstGeom>
          <a:solidFill>
            <a:srgbClr val="EAF2F8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513064" y="2743200"/>
            <a:ext cx="1344168" cy="41148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D2B3A"/>
                </a:solidFill>
                <a:latin typeface="Aptos"/>
              </a:rPr>
              <a:t>—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939528" y="2688336"/>
            <a:ext cx="1005840" cy="502920"/>
          </a:xfrm>
          <a:prstGeom prst="rect">
            <a:avLst/>
          </a:prstGeom>
          <a:solidFill>
            <a:srgbClr val="EAF2F8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021824" y="2743200"/>
            <a:ext cx="841248" cy="41148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D2B3A"/>
                </a:solidFill>
                <a:latin typeface="Aptos"/>
              </a:rPr>
              <a:t>—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0080" y="3191256"/>
            <a:ext cx="1097280" cy="502920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22375" y="3246120"/>
            <a:ext cx="932688" cy="41148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D2B3A"/>
                </a:solidFill>
                <a:latin typeface="Aptos"/>
              </a:rPr>
              <a:t>512 B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737360" y="3191256"/>
            <a:ext cx="1920240" cy="502920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819656" y="3246120"/>
            <a:ext cx="1755648" cy="41148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D2B3A"/>
                </a:solidFill>
                <a:latin typeface="Aptos"/>
              </a:rPr>
              <a:t>Python baseline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657600" y="3191256"/>
            <a:ext cx="1938528" cy="502920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739896" y="3246120"/>
            <a:ext cx="1773936" cy="41148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D2B3A"/>
                </a:solidFill>
                <a:latin typeface="Aptos"/>
              </a:rPr>
              <a:t>—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596128" y="3191256"/>
            <a:ext cx="1600200" cy="502920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678424" y="3246120"/>
            <a:ext cx="1435608" cy="41148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D2B3A"/>
                </a:solidFill>
                <a:latin typeface="Aptos"/>
              </a:rPr>
              <a:t>—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196328" y="3191256"/>
            <a:ext cx="1234440" cy="502920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278624" y="3246120"/>
            <a:ext cx="1069848" cy="41148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D2B3A"/>
                </a:solidFill>
                <a:latin typeface="Aptos"/>
              </a:rPr>
              <a:t>—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430768" y="3191256"/>
            <a:ext cx="1508760" cy="502920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513064" y="3246120"/>
            <a:ext cx="1344168" cy="41148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D2B3A"/>
                </a:solidFill>
                <a:latin typeface="Aptos"/>
              </a:rPr>
              <a:t>—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939528" y="3191256"/>
            <a:ext cx="1005840" cy="502920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021824" y="3246120"/>
            <a:ext cx="841248" cy="41148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D2B3A"/>
                </a:solidFill>
                <a:latin typeface="Aptos"/>
              </a:rPr>
              <a:t>—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40080" y="3694176"/>
            <a:ext cx="1097280" cy="502920"/>
          </a:xfrm>
          <a:prstGeom prst="rect">
            <a:avLst/>
          </a:prstGeom>
          <a:solidFill>
            <a:srgbClr val="EAF2F8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22375" y="3749039"/>
            <a:ext cx="932688" cy="41148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D2B3A"/>
                </a:solidFill>
                <a:latin typeface="Aptos"/>
              </a:rPr>
              <a:t>512 B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737360" y="3694176"/>
            <a:ext cx="1920240" cy="502920"/>
          </a:xfrm>
          <a:prstGeom prst="rect">
            <a:avLst/>
          </a:prstGeom>
          <a:solidFill>
            <a:srgbClr val="EAF2F8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819656" y="3749039"/>
            <a:ext cx="1755648" cy="41148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D2B3A"/>
                </a:solidFill>
                <a:latin typeface="Aptos"/>
              </a:rPr>
              <a:t>Batched C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0" y="3694176"/>
            <a:ext cx="1938528" cy="502920"/>
          </a:xfrm>
          <a:prstGeom prst="rect">
            <a:avLst/>
          </a:prstGeom>
          <a:solidFill>
            <a:srgbClr val="EAF2F8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739896" y="3749039"/>
            <a:ext cx="1773936" cy="41148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D2B3A"/>
                </a:solidFill>
                <a:latin typeface="Aptos"/>
              </a:rPr>
              <a:t>—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596128" y="3694176"/>
            <a:ext cx="1600200" cy="502920"/>
          </a:xfrm>
          <a:prstGeom prst="rect">
            <a:avLst/>
          </a:prstGeom>
          <a:solidFill>
            <a:srgbClr val="EAF2F8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678424" y="3749039"/>
            <a:ext cx="1435608" cy="41148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D2B3A"/>
                </a:solidFill>
                <a:latin typeface="Aptos"/>
              </a:rPr>
              <a:t>—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196328" y="3694176"/>
            <a:ext cx="1234440" cy="502920"/>
          </a:xfrm>
          <a:prstGeom prst="rect">
            <a:avLst/>
          </a:prstGeom>
          <a:solidFill>
            <a:srgbClr val="EAF2F8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278624" y="3749039"/>
            <a:ext cx="1069848" cy="41148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D2B3A"/>
                </a:solidFill>
                <a:latin typeface="Aptos"/>
              </a:rPr>
              <a:t>—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430768" y="3694176"/>
            <a:ext cx="1508760" cy="502920"/>
          </a:xfrm>
          <a:prstGeom prst="rect">
            <a:avLst/>
          </a:prstGeom>
          <a:solidFill>
            <a:srgbClr val="EAF2F8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513064" y="3749039"/>
            <a:ext cx="1344168" cy="41148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D2B3A"/>
                </a:solidFill>
                <a:latin typeface="Aptos"/>
              </a:rPr>
              <a:t>—</a:t>
            </a:r>
          </a:p>
        </p:txBody>
      </p:sp>
      <p:sp>
        <p:nvSpPr>
          <p:cNvPr id="79" name="Rectangle 78"/>
          <p:cNvSpPr/>
          <p:nvPr/>
        </p:nvSpPr>
        <p:spPr>
          <a:xfrm>
            <a:off x="9939528" y="3694176"/>
            <a:ext cx="1005840" cy="502920"/>
          </a:xfrm>
          <a:prstGeom prst="rect">
            <a:avLst/>
          </a:prstGeom>
          <a:solidFill>
            <a:srgbClr val="EAF2F8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0021824" y="3749039"/>
            <a:ext cx="841248" cy="41148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D2B3A"/>
                </a:solidFill>
                <a:latin typeface="Aptos"/>
              </a:rPr>
              <a:t>—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40080" y="4197096"/>
            <a:ext cx="1097280" cy="502920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22375" y="4251959"/>
            <a:ext cx="932688" cy="41148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D2B3A"/>
                </a:solidFill>
                <a:latin typeface="Aptos"/>
              </a:rPr>
              <a:t>1472 B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737360" y="4197096"/>
            <a:ext cx="1920240" cy="502920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819656" y="4251959"/>
            <a:ext cx="1755648" cy="41148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D2B3A"/>
                </a:solidFill>
                <a:latin typeface="Aptos"/>
              </a:rPr>
              <a:t>Python baseline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657600" y="4197096"/>
            <a:ext cx="1938528" cy="502920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739896" y="4251959"/>
            <a:ext cx="1773936" cy="41148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D2B3A"/>
                </a:solidFill>
                <a:latin typeface="Aptos"/>
              </a:rPr>
              <a:t>—</a:t>
            </a:r>
          </a:p>
        </p:txBody>
      </p:sp>
      <p:sp>
        <p:nvSpPr>
          <p:cNvPr id="87" name="Rectangle 86"/>
          <p:cNvSpPr/>
          <p:nvPr/>
        </p:nvSpPr>
        <p:spPr>
          <a:xfrm>
            <a:off x="5596128" y="4197096"/>
            <a:ext cx="1600200" cy="502920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678424" y="4251959"/>
            <a:ext cx="1435608" cy="41148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D2B3A"/>
                </a:solidFill>
                <a:latin typeface="Aptos"/>
              </a:rPr>
              <a:t>—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196328" y="4197096"/>
            <a:ext cx="1234440" cy="502920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278624" y="4251959"/>
            <a:ext cx="1069848" cy="41148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D2B3A"/>
                </a:solidFill>
                <a:latin typeface="Aptos"/>
              </a:rPr>
              <a:t>—</a:t>
            </a:r>
          </a:p>
        </p:txBody>
      </p:sp>
      <p:sp>
        <p:nvSpPr>
          <p:cNvPr id="91" name="Rectangle 90"/>
          <p:cNvSpPr/>
          <p:nvPr/>
        </p:nvSpPr>
        <p:spPr>
          <a:xfrm>
            <a:off x="8430768" y="4197096"/>
            <a:ext cx="1508760" cy="502920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513064" y="4251959"/>
            <a:ext cx="1344168" cy="41148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D2B3A"/>
                </a:solidFill>
                <a:latin typeface="Aptos"/>
              </a:rPr>
              <a:t>—</a:t>
            </a:r>
          </a:p>
        </p:txBody>
      </p:sp>
      <p:sp>
        <p:nvSpPr>
          <p:cNvPr id="93" name="Rectangle 92"/>
          <p:cNvSpPr/>
          <p:nvPr/>
        </p:nvSpPr>
        <p:spPr>
          <a:xfrm>
            <a:off x="9939528" y="4197096"/>
            <a:ext cx="1005840" cy="502920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021824" y="4251959"/>
            <a:ext cx="841248" cy="41148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D2B3A"/>
                </a:solidFill>
                <a:latin typeface="Aptos"/>
              </a:rPr>
              <a:t>—</a:t>
            </a:r>
          </a:p>
        </p:txBody>
      </p:sp>
      <p:sp>
        <p:nvSpPr>
          <p:cNvPr id="95" name="Rectangle 94"/>
          <p:cNvSpPr/>
          <p:nvPr/>
        </p:nvSpPr>
        <p:spPr>
          <a:xfrm>
            <a:off x="640080" y="4700016"/>
            <a:ext cx="1097280" cy="502920"/>
          </a:xfrm>
          <a:prstGeom prst="rect">
            <a:avLst/>
          </a:prstGeom>
          <a:solidFill>
            <a:srgbClr val="EAF2F8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22375" y="4754879"/>
            <a:ext cx="932688" cy="41148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D2B3A"/>
                </a:solidFill>
                <a:latin typeface="Aptos"/>
              </a:rPr>
              <a:t>1472 B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737360" y="4700016"/>
            <a:ext cx="1920240" cy="502920"/>
          </a:xfrm>
          <a:prstGeom prst="rect">
            <a:avLst/>
          </a:prstGeom>
          <a:solidFill>
            <a:srgbClr val="EAF2F8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1819656" y="4754879"/>
            <a:ext cx="1755648" cy="41148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D2B3A"/>
                </a:solidFill>
                <a:latin typeface="Aptos"/>
              </a:rPr>
              <a:t>Batched C</a:t>
            </a:r>
          </a:p>
        </p:txBody>
      </p:sp>
      <p:sp>
        <p:nvSpPr>
          <p:cNvPr id="99" name="Rectangle 98"/>
          <p:cNvSpPr/>
          <p:nvPr/>
        </p:nvSpPr>
        <p:spPr>
          <a:xfrm>
            <a:off x="3657600" y="4700016"/>
            <a:ext cx="1938528" cy="502920"/>
          </a:xfrm>
          <a:prstGeom prst="rect">
            <a:avLst/>
          </a:prstGeom>
          <a:solidFill>
            <a:srgbClr val="EAF2F8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739896" y="4754879"/>
            <a:ext cx="1773936" cy="41148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D2B3A"/>
                </a:solidFill>
                <a:latin typeface="Aptos"/>
              </a:rPr>
              <a:t>—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5596128" y="4700016"/>
            <a:ext cx="1600200" cy="502920"/>
          </a:xfrm>
          <a:prstGeom prst="rect">
            <a:avLst/>
          </a:prstGeom>
          <a:solidFill>
            <a:srgbClr val="EAF2F8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5678424" y="4754879"/>
            <a:ext cx="1435608" cy="41148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D2B3A"/>
                </a:solidFill>
                <a:latin typeface="Aptos"/>
              </a:rPr>
              <a:t>—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7196328" y="4700016"/>
            <a:ext cx="1234440" cy="502920"/>
          </a:xfrm>
          <a:prstGeom prst="rect">
            <a:avLst/>
          </a:prstGeom>
          <a:solidFill>
            <a:srgbClr val="EAF2F8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7278624" y="4754879"/>
            <a:ext cx="1069848" cy="41148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D2B3A"/>
                </a:solidFill>
                <a:latin typeface="Aptos"/>
              </a:rPr>
              <a:t>—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8430768" y="4700016"/>
            <a:ext cx="1508760" cy="502920"/>
          </a:xfrm>
          <a:prstGeom prst="rect">
            <a:avLst/>
          </a:prstGeom>
          <a:solidFill>
            <a:srgbClr val="EAF2F8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513064" y="4754879"/>
            <a:ext cx="1344168" cy="41148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D2B3A"/>
                </a:solidFill>
                <a:latin typeface="Aptos"/>
              </a:rPr>
              <a:t>—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9939528" y="4700016"/>
            <a:ext cx="1005840" cy="502920"/>
          </a:xfrm>
          <a:prstGeom prst="rect">
            <a:avLst/>
          </a:prstGeom>
          <a:solidFill>
            <a:srgbClr val="EAF2F8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0021824" y="4754879"/>
            <a:ext cx="841248" cy="41148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D2B3A"/>
                </a:solidFill>
                <a:latin typeface="Aptos"/>
              </a:rPr>
              <a:t>—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832104" y="5468112"/>
            <a:ext cx="10424160" cy="603504"/>
          </a:xfrm>
          <a:prstGeom prst="roundRect">
            <a:avLst>
              <a:gd name="adj" fmla="val 10000"/>
            </a:avLst>
          </a:prstGeom>
          <a:solidFill>
            <a:srgbClr val="FFF5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1051560" y="5623560"/>
            <a:ext cx="9985248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10243A"/>
                </a:solidFill>
                <a:latin typeface="Aptos"/>
              </a:rPr>
              <a:t>Do not report localhost smoke-test values as PYNQ-Z2 performance.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1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38404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 i="0">
                <a:solidFill>
                  <a:srgbClr val="11B5A4"/>
                </a:solidFill>
                <a:latin typeface="Aptos"/>
              </a:rPr>
              <a:t>07  | 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110996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500" b="1" i="0">
                <a:solidFill>
                  <a:srgbClr val="10243A"/>
                </a:solidFill>
                <a:latin typeface="Aptos"/>
              </a:rPr>
              <a:t>Limitations to acknowledge in the viva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15568"/>
            <a:ext cx="109728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637487"/>
                </a:solidFill>
                <a:latin typeface="Aptos"/>
              </a:rPr>
              <a:t>Clear limitations strengthen the credibility of the conclusion.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492240"/>
            <a:ext cx="11183112" cy="0"/>
          </a:xfrm>
          <a:prstGeom prst="line">
            <a:avLst/>
          </a:prstGeom>
          <a:ln w="10160">
            <a:solidFill>
              <a:srgbClr val="D8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547104"/>
            <a:ext cx="69494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637487"/>
                </a:solidFill>
                <a:latin typeface="Aptos"/>
              </a:rPr>
              <a:t>PYNQ-Z2  |  PS UDP performance study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3968" y="6528816"/>
            <a:ext cx="4572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637487"/>
                </a:solidFill>
                <a:latin typeface="Aptos"/>
              </a:rP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46504"/>
            <a:ext cx="3374136" cy="13898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D8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46504"/>
            <a:ext cx="64008" cy="1389888"/>
          </a:xfrm>
          <a:prstGeom prst="rect">
            <a:avLst/>
          </a:prstGeom>
          <a:solidFill>
            <a:srgbClr val="F07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59" y="1892808"/>
            <a:ext cx="3044952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0243A"/>
                </a:solidFill>
                <a:latin typeface="Aptos"/>
              </a:rPr>
              <a:t>Not raw Ethernet capacity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2258568"/>
            <a:ext cx="3044952" cy="7680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637487"/>
                </a:solidFill>
                <a:latin typeface="Aptos"/>
              </a:rPr>
              <a:t>Application goodput includes host, kernel, driver and socket costs.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5968" y="1746504"/>
            <a:ext cx="3374136" cy="13898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D8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15968" y="1746504"/>
            <a:ext cx="64008" cy="1389888"/>
          </a:xfrm>
          <a:prstGeom prst="rect">
            <a:avLst/>
          </a:prstGeom>
          <a:solidFill>
            <a:srgbClr val="F2B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98848" y="1892808"/>
            <a:ext cx="3044952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0243A"/>
                </a:solidFill>
                <a:latin typeface="Aptos"/>
              </a:rPr>
              <a:t>Linux version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8848" y="2258568"/>
            <a:ext cx="3044952" cy="7680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637487"/>
                </a:solidFill>
                <a:latin typeface="Aptos"/>
              </a:rPr>
              <a:t>recvmmsg/sendmmsg availability and implementation depend on the board image/kernel.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91855" y="1746504"/>
            <a:ext cx="3374136" cy="13898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D8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91855" y="1746504"/>
            <a:ext cx="64008" cy="1389888"/>
          </a:xfrm>
          <a:prstGeom prst="rect">
            <a:avLst/>
          </a:prstGeom>
          <a:solidFill>
            <a:srgbClr val="58C8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74735" y="1892808"/>
            <a:ext cx="3044952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0243A"/>
                </a:solidFill>
                <a:latin typeface="Aptos"/>
              </a:rPr>
              <a:t>Host can bottleneck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74735" y="2258568"/>
            <a:ext cx="3044952" cy="7680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637487"/>
                </a:solidFill>
                <a:latin typeface="Aptos"/>
              </a:rPr>
              <a:t>A saturated generator or receiver can hide server differences.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364992"/>
            <a:ext cx="3374136" cy="13898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D8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3364992"/>
            <a:ext cx="64008" cy="1389888"/>
          </a:xfrm>
          <a:prstGeom prst="rect">
            <a:avLst/>
          </a:prstGeom>
          <a:solidFill>
            <a:srgbClr val="11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59" y="3511296"/>
            <a:ext cx="3044952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0243A"/>
                </a:solidFill>
                <a:latin typeface="Aptos"/>
              </a:rPr>
              <a:t>Burst size changes load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59" y="3877056"/>
            <a:ext cx="3044952" cy="7680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637487"/>
                </a:solidFill>
                <a:latin typeface="Aptos"/>
              </a:rPr>
              <a:t>Fixed host burst may favor batching; disclose and test additional burst settings if time permits.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15968" y="3364992"/>
            <a:ext cx="3374136" cy="13898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D8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15968" y="3364992"/>
            <a:ext cx="64008" cy="1389888"/>
          </a:xfrm>
          <a:prstGeom prst="rect">
            <a:avLst/>
          </a:prstGeom>
          <a:solidFill>
            <a:srgbClr val="47B8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98848" y="3511296"/>
            <a:ext cx="3044952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0243A"/>
                </a:solidFill>
                <a:latin typeface="Aptos"/>
              </a:rPr>
              <a:t>One board is one sample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98848" y="3877056"/>
            <a:ext cx="3044952" cy="7680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637487"/>
                </a:solidFill>
                <a:latin typeface="Aptos"/>
              </a:rPr>
              <a:t>Conclusions apply to this hardware/software configuration, not every Linux system.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91855" y="3364992"/>
            <a:ext cx="3374136" cy="13898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D8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991855" y="3364992"/>
            <a:ext cx="64008" cy="138988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74735" y="3511296"/>
            <a:ext cx="3044952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0243A"/>
                </a:solidFill>
                <a:latin typeface="Aptos"/>
              </a:rPr>
              <a:t>CPU metrics differ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74735" y="3877056"/>
            <a:ext cx="3044952" cy="7680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637487"/>
                </a:solidFill>
                <a:latin typeface="Aptos"/>
              </a:rPr>
              <a:t>Process CPU time and system-wide utilization are different; label the measurement method.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" y="5230368"/>
            <a:ext cx="10561320" cy="4297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 i="0">
                <a:solidFill>
                  <a:srgbClr val="10243A"/>
                </a:solidFill>
                <a:latin typeface="Aptos"/>
              </a:rPr>
              <a:t>A useful result can be “no measurable benefit under this offered load”—that still answers the research question.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1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38404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 i="0">
                <a:solidFill>
                  <a:srgbClr val="11B5A4"/>
                </a:solidFill>
                <a:latin typeface="Aptos"/>
              </a:rPr>
              <a:t>08  |  CLOSE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110996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500" b="1" i="0">
                <a:solidFill>
                  <a:srgbClr val="10243A"/>
                </a:solidFill>
                <a:latin typeface="Aptos"/>
              </a:rPr>
              <a:t>Take-away and 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15568"/>
            <a:ext cx="109728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637487"/>
                </a:solidFill>
                <a:latin typeface="Aptos"/>
              </a:rPr>
              <a:t>What makes the project stronger is the experimental design and honest evidence—not a promised speedup.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492240"/>
            <a:ext cx="11183112" cy="0"/>
          </a:xfrm>
          <a:prstGeom prst="line">
            <a:avLst/>
          </a:prstGeom>
          <a:ln w="10160">
            <a:solidFill>
              <a:srgbClr val="D8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547104"/>
            <a:ext cx="69494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637487"/>
                </a:solidFill>
                <a:latin typeface="Aptos"/>
              </a:rPr>
              <a:t>PYNQ-Z2  |  PS UDP performance study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3968" y="6528816"/>
            <a:ext cx="4572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637487"/>
                </a:solidFill>
                <a:latin typeface="Aptos"/>
              </a:rP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1719072"/>
            <a:ext cx="3977639" cy="3584448"/>
          </a:xfrm>
          <a:prstGeom prst="roundRect">
            <a:avLst>
              <a:gd name="adj" fmla="val 10000"/>
            </a:avLst>
          </a:prstGeom>
          <a:solidFill>
            <a:srgbClr val="10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984248"/>
            <a:ext cx="32918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58C8D2"/>
                </a:solidFill>
                <a:latin typeface="Aptos"/>
              </a:rPr>
              <a:t>THE PLAN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450592"/>
            <a:ext cx="3401568" cy="23317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Aptos"/>
              </a:rPr>
              <a:t>Keep the board and network path fixed.</a:t>
            </a:r>
          </a:p>
          <a:p>
            <a:pPr algn="l">
              <a:spcAft>
                <a:spcPts val="300"/>
              </a:spcAft>
            </a:pPr>
          </a:p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Aptos"/>
              </a:rPr>
              <a:t>Change Python per-packet I/O to Linux C batched I/O.</a:t>
            </a:r>
          </a:p>
          <a:p>
            <a:pPr algn="l">
              <a:spcAft>
                <a:spcPts val="300"/>
              </a:spcAft>
            </a:pPr>
          </a:p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Aptos"/>
              </a:rPr>
              <a:t>Prove correctness first; then compare rate, loss, latency and CPU over repeated runs.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4864608"/>
            <a:ext cx="33832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F2B84B"/>
                </a:solidFill>
                <a:latin typeface="Aptos"/>
              </a:rPr>
              <a:t>No improvement is claimed until board data supports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65192" y="1773936"/>
            <a:ext cx="60807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1B5A4"/>
                </a:solidFill>
                <a:latin typeface="Aptos"/>
              </a:rPr>
              <a:t>REFERENCES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92624" y="2331720"/>
            <a:ext cx="91440" cy="91440"/>
          </a:xfrm>
          <a:prstGeom prst="roundRect">
            <a:avLst>
              <a:gd name="adj" fmla="val 10000"/>
            </a:avLst>
          </a:prstGeom>
          <a:solidFill>
            <a:srgbClr val="11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75504" y="2221992"/>
            <a:ext cx="5916168" cy="27214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1D2B3A"/>
                </a:solidFill>
                <a:latin typeface="Aptos"/>
              </a:rPr>
              <a:t>[1] Python socket API — docs.python.org/3/library/socket.html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92624" y="2756262"/>
            <a:ext cx="91440" cy="91440"/>
          </a:xfrm>
          <a:prstGeom prst="roundRect">
            <a:avLst>
              <a:gd name="adj" fmla="val 10000"/>
            </a:avLst>
          </a:prstGeom>
          <a:solidFill>
            <a:srgbClr val="11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75504" y="2646534"/>
            <a:ext cx="5916168" cy="27214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1D2B3A"/>
                </a:solidFill>
                <a:latin typeface="Aptos"/>
              </a:rPr>
              <a:t>[2] Linux recvmmsg(2) — man7.org/linux/man-pages/man2/recvmmsg.2.html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92624" y="3180805"/>
            <a:ext cx="91440" cy="91440"/>
          </a:xfrm>
          <a:prstGeom prst="roundRect">
            <a:avLst>
              <a:gd name="adj" fmla="val 10000"/>
            </a:avLst>
          </a:prstGeom>
          <a:solidFill>
            <a:srgbClr val="11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75504" y="3071077"/>
            <a:ext cx="5916168" cy="27214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1D2B3A"/>
                </a:solidFill>
                <a:latin typeface="Aptos"/>
              </a:rPr>
              <a:t>[3] Linux sendmmsg(2) — man7.org/linux/man-pages/man2/sendmmsg.2.html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992624" y="3605348"/>
            <a:ext cx="91440" cy="91440"/>
          </a:xfrm>
          <a:prstGeom prst="roundRect">
            <a:avLst>
              <a:gd name="adj" fmla="val 10000"/>
            </a:avLst>
          </a:prstGeom>
          <a:solidFill>
            <a:srgbClr val="11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75504" y="3495620"/>
            <a:ext cx="5916168" cy="27214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1D2B3A"/>
                </a:solidFill>
                <a:latin typeface="Aptos"/>
              </a:rPr>
              <a:t>[4] Linux NAPI — docs.kernel.org/networking/napi.html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92624" y="4029891"/>
            <a:ext cx="91440" cy="91440"/>
          </a:xfrm>
          <a:prstGeom prst="roundRect">
            <a:avLst>
              <a:gd name="adj" fmla="val 10000"/>
            </a:avLst>
          </a:prstGeom>
          <a:solidFill>
            <a:srgbClr val="11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75504" y="3920163"/>
            <a:ext cx="5916168" cy="27214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1D2B3A"/>
                </a:solidFill>
                <a:latin typeface="Aptos"/>
              </a:rPr>
              <a:t>[5] PYNQ introduction — pynq.readthedocs.io/en/latest/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92624" y="4454434"/>
            <a:ext cx="91440" cy="91440"/>
          </a:xfrm>
          <a:prstGeom prst="roundRect">
            <a:avLst>
              <a:gd name="adj" fmla="val 10000"/>
            </a:avLst>
          </a:prstGeom>
          <a:solidFill>
            <a:srgbClr val="11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75504" y="4344706"/>
            <a:ext cx="5916168" cy="27214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1D2B3A"/>
                </a:solidFill>
                <a:latin typeface="Aptos"/>
              </a:rPr>
              <a:t>[6] RFC 2544 — rfc-editor.org/rfc/rfc2544 (methodology inspiration; this is not RFC2544 compliance)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992624" y="4878977"/>
            <a:ext cx="91440" cy="91440"/>
          </a:xfrm>
          <a:prstGeom prst="roundRect">
            <a:avLst>
              <a:gd name="adj" fmla="val 10000"/>
            </a:avLst>
          </a:prstGeom>
          <a:solidFill>
            <a:srgbClr val="11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75504" y="4769249"/>
            <a:ext cx="5916168" cy="27214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1D2B3A"/>
                </a:solidFill>
                <a:latin typeface="Aptos"/>
              </a:rPr>
              <a:t>[7] AMD UG585 — docs.amd.com/v/u/en-US/ug585-Zynq-7000-TRM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0056" y="5404104"/>
            <a:ext cx="608076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 i="1">
                <a:solidFill>
                  <a:srgbClr val="637487"/>
                </a:solidFill>
                <a:latin typeface="Aptos"/>
              </a:rPr>
              <a:t>Sources accessed 7 Oct 2026. Platform-specific facts and all performance values should be verified against the actual board image and measurements.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1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38404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 i="0">
                <a:solidFill>
                  <a:srgbClr val="11B5A4"/>
                </a:solidFill>
                <a:latin typeface="Aptos"/>
              </a:rPr>
              <a:t>APPENDIX |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110996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500" b="1" i="0">
                <a:solidFill>
                  <a:srgbClr val="10243A"/>
                </a:solidFill>
                <a:latin typeface="Aptos"/>
              </a:rPr>
              <a:t>Complete proposed-system block diagram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15568"/>
            <a:ext cx="109728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637487"/>
                </a:solidFill>
                <a:latin typeface="Aptos"/>
              </a:rPr>
              <a:t>Request path shown left-to-right; the UDP echo response returns over the same Ethernet path.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492240"/>
            <a:ext cx="11183112" cy="0"/>
          </a:xfrm>
          <a:prstGeom prst="line">
            <a:avLst/>
          </a:prstGeom>
          <a:ln w="10160">
            <a:solidFill>
              <a:srgbClr val="D8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547104"/>
            <a:ext cx="69494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637487"/>
                </a:solidFill>
                <a:latin typeface="Aptos"/>
              </a:rPr>
              <a:t>PYNQ-Z2  |  PS UDP performance study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3968" y="6528816"/>
            <a:ext cx="4572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637487"/>
                </a:solidFill>
                <a:latin typeface="Aptos"/>
              </a:rP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679191"/>
            <a:ext cx="1691640" cy="1325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D8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871216"/>
            <a:ext cx="13258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 i="0">
                <a:solidFill>
                  <a:srgbClr val="10243A"/>
                </a:solidFill>
                <a:latin typeface="Aptos"/>
              </a:rPr>
              <a:t>HOST PC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291840"/>
            <a:ext cx="141732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0" i="0">
                <a:solidFill>
                  <a:srgbClr val="637487"/>
                </a:solidFill>
                <a:latin typeface="Aptos"/>
              </a:rPr>
              <a:t>Python benchmark</a:t>
            </a:r>
          </a:p>
          <a:p>
            <a:pPr algn="ctr">
              <a:spcAft>
                <a:spcPts val="300"/>
              </a:spcAft>
            </a:pPr>
            <a:r>
              <a:rPr sz="1100" b="0" i="0">
                <a:solidFill>
                  <a:srgbClr val="637487"/>
                </a:solidFill>
                <a:latin typeface="Aptos"/>
              </a:rPr>
              <a:t>Wireshark capture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70048" y="1938528"/>
            <a:ext cx="8915400" cy="3218688"/>
          </a:xfrm>
          <a:prstGeom prst="roundRect">
            <a:avLst>
              <a:gd name="adj" fmla="val 10000"/>
            </a:avLst>
          </a:prstGeom>
          <a:solidFill>
            <a:srgbClr val="EAF2F8"/>
          </a:solidFill>
          <a:ln w="19050">
            <a:solidFill>
              <a:srgbClr val="89AF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07792" y="2066543"/>
            <a:ext cx="84124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 i="0">
                <a:solidFill>
                  <a:srgbClr val="10243A"/>
                </a:solidFill>
                <a:latin typeface="Aptos"/>
              </a:rPr>
              <a:t>TUL PYNQ-Z2 BOARD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44368" y="2926080"/>
            <a:ext cx="1298448" cy="103327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7780">
            <a:solidFill>
              <a:srgbClr val="11B5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08376" y="3072384"/>
            <a:ext cx="1170431" cy="2651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 i="0">
                <a:solidFill>
                  <a:srgbClr val="10243A"/>
                </a:solidFill>
                <a:latin typeface="Aptos"/>
              </a:rPr>
              <a:t>RJ45 + PHY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3419856"/>
            <a:ext cx="1152144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 i="0">
                <a:solidFill>
                  <a:srgbClr val="637487"/>
                </a:solidFill>
                <a:latin typeface="Aptos"/>
              </a:rPr>
              <a:t>RTL8211E</a:t>
            </a:r>
          </a:p>
          <a:p>
            <a:pPr algn="ctr">
              <a:spcAft>
                <a:spcPts val="300"/>
              </a:spcAft>
            </a:pPr>
            <a:r>
              <a:rPr sz="1000" b="0" i="0">
                <a:solidFill>
                  <a:srgbClr val="637487"/>
                </a:solidFill>
                <a:latin typeface="Aptos"/>
              </a:rPr>
              <a:t>built-in jack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17136" y="2926080"/>
            <a:ext cx="1353312" cy="103327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7780">
            <a:solidFill>
              <a:srgbClr val="58C8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81144" y="3072384"/>
            <a:ext cx="1225295" cy="2651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 i="0">
                <a:solidFill>
                  <a:srgbClr val="10243A"/>
                </a:solidFill>
                <a:latin typeface="Aptos"/>
              </a:rPr>
              <a:t>PS GEM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0288" y="3419856"/>
            <a:ext cx="120700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 i="0">
                <a:solidFill>
                  <a:srgbClr val="637487"/>
                </a:solidFill>
                <a:latin typeface="Aptos"/>
              </a:rPr>
              <a:t>Ethernet MAC</a:t>
            </a:r>
          </a:p>
          <a:p>
            <a:pPr algn="ctr">
              <a:spcAft>
                <a:spcPts val="300"/>
              </a:spcAft>
            </a:pPr>
            <a:r>
              <a:rPr sz="1000" b="0" i="0">
                <a:solidFill>
                  <a:srgbClr val="637487"/>
                </a:solidFill>
                <a:latin typeface="Aptos"/>
              </a:rPr>
              <a:t>via MIO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3912" y="2926080"/>
            <a:ext cx="1554480" cy="103327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7780">
            <a:solidFill>
              <a:srgbClr val="F2B8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0" y="3072384"/>
            <a:ext cx="1426464" cy="2651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 i="0">
                <a:solidFill>
                  <a:srgbClr val="10243A"/>
                </a:solidFill>
                <a:latin typeface="Aptos"/>
              </a:rPr>
              <a:t>Linux stack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27064" y="3419856"/>
            <a:ext cx="1408176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 i="0">
                <a:solidFill>
                  <a:srgbClr val="637487"/>
                </a:solidFill>
                <a:latin typeface="Aptos"/>
              </a:rPr>
              <a:t>Driver + IP/UDP</a:t>
            </a:r>
          </a:p>
          <a:p>
            <a:pPr algn="ctr">
              <a:spcAft>
                <a:spcPts val="300"/>
              </a:spcAft>
            </a:pPr>
            <a:r>
              <a:rPr sz="1000" b="0" i="0">
                <a:solidFill>
                  <a:srgbClr val="637487"/>
                </a:solidFill>
                <a:latin typeface="Aptos"/>
              </a:rPr>
              <a:t>socket layer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595360" y="2505456"/>
            <a:ext cx="2688336" cy="859536"/>
          </a:xfrm>
          <a:prstGeom prst="roundRect">
            <a:avLst>
              <a:gd name="adj" fmla="val 10000"/>
            </a:avLst>
          </a:prstGeom>
          <a:solidFill>
            <a:srgbClr val="FFF5E2"/>
          </a:solidFill>
          <a:ln w="16510">
            <a:solidFill>
              <a:srgbClr val="E9C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32520" y="2642616"/>
            <a:ext cx="2414016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 i="0">
                <a:solidFill>
                  <a:srgbClr val="10243A"/>
                </a:solidFill>
                <a:latin typeface="Aptos"/>
              </a:rPr>
              <a:t>A  Python baseline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32520" y="2990088"/>
            <a:ext cx="2414016" cy="210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 i="0">
                <a:solidFill>
                  <a:srgbClr val="637487"/>
                </a:solidFill>
                <a:latin typeface="Aptos"/>
              </a:rPr>
              <a:t>recvfrom() → sendto()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595360" y="3602736"/>
            <a:ext cx="2688336" cy="859536"/>
          </a:xfrm>
          <a:prstGeom prst="roundRect">
            <a:avLst>
              <a:gd name="adj" fmla="val 10000"/>
            </a:avLst>
          </a:prstGeom>
          <a:solidFill>
            <a:srgbClr val="E7F7F4"/>
          </a:solidFill>
          <a:ln w="16510">
            <a:solidFill>
              <a:srgbClr val="7C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32520" y="3739896"/>
            <a:ext cx="2414016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 i="0">
                <a:solidFill>
                  <a:srgbClr val="10243A"/>
                </a:solidFill>
                <a:latin typeface="Aptos"/>
              </a:rPr>
              <a:t>B  Batched C candidate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32520" y="4087368"/>
            <a:ext cx="2414016" cy="210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 i="0">
                <a:solidFill>
                  <a:srgbClr val="637487"/>
                </a:solidFill>
                <a:latin typeface="Aptos"/>
              </a:rPr>
              <a:t>recvmmsg() → sendmmsg()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194560" y="3346704"/>
            <a:ext cx="713232" cy="0"/>
          </a:xfrm>
          <a:prstGeom prst="line">
            <a:avLst/>
          </a:prstGeom>
          <a:ln w="25400">
            <a:solidFill>
              <a:srgbClr val="11B5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2148840" y="3008376"/>
            <a:ext cx="804672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0" i="0">
                <a:solidFill>
                  <a:srgbClr val="637487"/>
                </a:solidFill>
                <a:latin typeface="Aptos"/>
              </a:rPr>
              <a:t>UDP request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251960" y="3438144"/>
            <a:ext cx="228600" cy="0"/>
          </a:xfrm>
          <a:prstGeom prst="line">
            <a:avLst/>
          </a:prstGeom>
          <a:ln w="25400">
            <a:solidFill>
              <a:srgbClr val="11B5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879592" y="3438144"/>
            <a:ext cx="228600" cy="0"/>
          </a:xfrm>
          <a:prstGeom prst="line">
            <a:avLst/>
          </a:prstGeom>
          <a:ln w="25400">
            <a:solidFill>
              <a:srgbClr val="11B5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717536" y="3438144"/>
            <a:ext cx="621791" cy="0"/>
          </a:xfrm>
          <a:prstGeom prst="line">
            <a:avLst/>
          </a:prstGeom>
          <a:ln w="25400">
            <a:solidFill>
              <a:srgbClr val="11B5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8339327" y="2953512"/>
            <a:ext cx="0" cy="1078992"/>
          </a:xfrm>
          <a:prstGeom prst="line">
            <a:avLst/>
          </a:prstGeom>
          <a:ln w="21590">
            <a:solidFill>
              <a:srgbClr val="11B5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339327" y="2953512"/>
            <a:ext cx="219457" cy="0"/>
          </a:xfrm>
          <a:prstGeom prst="line">
            <a:avLst/>
          </a:prstGeom>
          <a:ln w="21590">
            <a:solidFill>
              <a:srgbClr val="11B5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339327" y="4032504"/>
            <a:ext cx="219457" cy="0"/>
          </a:xfrm>
          <a:prstGeom prst="line">
            <a:avLst/>
          </a:prstGeom>
          <a:ln w="21590">
            <a:solidFill>
              <a:srgbClr val="11B5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1005840" y="5358384"/>
            <a:ext cx="10012680" cy="566928"/>
          </a:xfrm>
          <a:prstGeom prst="roundRect">
            <a:avLst>
              <a:gd name="adj" fmla="val 10000"/>
            </a:avLst>
          </a:prstGeom>
          <a:solidFill>
            <a:srgbClr val="10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25296" y="5495544"/>
            <a:ext cx="9582912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Aptos"/>
              </a:rPr>
              <a:t>Same PS GEM + Linux stack in both experiments  •  Change only the UDP server implementation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0704" y="6035040"/>
            <a:ext cx="9921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0" i="1">
                <a:solidFill>
                  <a:srgbClr val="637487"/>
                </a:solidFill>
                <a:latin typeface="Aptos"/>
              </a:rPr>
              <a:t>PL and Vivado are not part of this PS-vs-PS network path.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1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38404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 i="0">
                <a:solidFill>
                  <a:srgbClr val="11B5A4"/>
                </a:solidFill>
                <a:latin typeface="Aptos"/>
              </a:rPr>
              <a:t>APPENDIX |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110996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500" b="1" i="0">
                <a:solidFill>
                  <a:srgbClr val="10243A"/>
                </a:solidFill>
                <a:latin typeface="Aptos"/>
              </a:rPr>
              <a:t>Complete source-code appendix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15568"/>
            <a:ext cx="109728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637487"/>
                </a:solidFill>
                <a:latin typeface="Aptos"/>
              </a:rPr>
              <a:t>The following slides reproduce every current project source file in full; implementation files are split only for readability.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492240"/>
            <a:ext cx="11183112" cy="0"/>
          </a:xfrm>
          <a:prstGeom prst="line">
            <a:avLst/>
          </a:prstGeom>
          <a:ln w="10160">
            <a:solidFill>
              <a:srgbClr val="D8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547104"/>
            <a:ext cx="69494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637487"/>
                </a:solidFill>
                <a:latin typeface="Aptos"/>
              </a:rPr>
              <a:t>PYNQ-Z2  |  PS UDP performance study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3968" y="6528816"/>
            <a:ext cx="4572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637487"/>
                </a:solidFill>
                <a:latin typeface="Aptos"/>
              </a:rPr>
              <a:t>20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" y="1719072"/>
            <a:ext cx="3749039" cy="402336"/>
          </a:xfrm>
          <a:prstGeom prst="rect">
            <a:avLst/>
          </a:prstGeom>
          <a:solidFill>
            <a:srgbClr val="10243A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773936"/>
            <a:ext cx="3584447" cy="310896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Project source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43983" y="1719072"/>
            <a:ext cx="6080760" cy="402336"/>
          </a:xfrm>
          <a:prstGeom prst="rect">
            <a:avLst/>
          </a:prstGeom>
          <a:solidFill>
            <a:srgbClr val="10243A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79" y="1773936"/>
            <a:ext cx="5916168" cy="310896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Purpose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524744" y="1719072"/>
            <a:ext cx="1005840" cy="402336"/>
          </a:xfrm>
          <a:prstGeom prst="rect">
            <a:avLst/>
          </a:prstGeom>
          <a:solidFill>
            <a:srgbClr val="10243A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07040" y="1773936"/>
            <a:ext cx="841248" cy="310896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Pages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4944" y="2121408"/>
            <a:ext cx="3749039" cy="47548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176272"/>
            <a:ext cx="3584447" cy="38404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D2B3A"/>
                </a:solidFill>
                <a:latin typeface="Aptos"/>
              </a:rPr>
              <a:t>sw/udp_echo_server.py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43983" y="2121408"/>
            <a:ext cx="6080760" cy="47548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79" y="2176272"/>
            <a:ext cx="5916168" cy="38404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D2B3A"/>
                </a:solidFill>
                <a:latin typeface="Aptos"/>
              </a:rPr>
              <a:t>Python baseline: one recvfrom/sendto per datagram.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524744" y="2121408"/>
            <a:ext cx="1005840" cy="47548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07040" y="2176272"/>
            <a:ext cx="841248" cy="38404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D2B3A"/>
                </a:solidFill>
                <a:latin typeface="Aptos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4944" y="2596896"/>
            <a:ext cx="3749039" cy="475488"/>
          </a:xfrm>
          <a:prstGeom prst="rect">
            <a:avLst/>
          </a:prstGeom>
          <a:solidFill>
            <a:srgbClr val="EAF2F8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2651760"/>
            <a:ext cx="3584447" cy="38404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D2B3A"/>
                </a:solidFill>
                <a:latin typeface="Aptos"/>
              </a:rPr>
              <a:t>sw/udp_echo_server_batch.c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43983" y="2596896"/>
            <a:ext cx="6080760" cy="475488"/>
          </a:xfrm>
          <a:prstGeom prst="rect">
            <a:avLst/>
          </a:prstGeom>
          <a:solidFill>
            <a:srgbClr val="EAF2F8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26279" y="2651760"/>
            <a:ext cx="5916168" cy="38404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D2B3A"/>
                </a:solidFill>
                <a:latin typeface="Aptos"/>
              </a:rPr>
              <a:t>C candidate: Linux recvmmsg/sendmmsg batched echo server.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524744" y="2596896"/>
            <a:ext cx="1005840" cy="475488"/>
          </a:xfrm>
          <a:prstGeom prst="rect">
            <a:avLst/>
          </a:prstGeom>
          <a:solidFill>
            <a:srgbClr val="EAF2F8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07040" y="2651760"/>
            <a:ext cx="841248" cy="38404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D2B3A"/>
                </a:solidFill>
                <a:latin typeface="Aptos"/>
              </a:rPr>
              <a:t>13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4944" y="3072384"/>
            <a:ext cx="3749039" cy="47548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3127248"/>
            <a:ext cx="3584447" cy="38404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D2B3A"/>
                </a:solidFill>
                <a:latin typeface="Aptos"/>
              </a:rPr>
              <a:t>sw/throughput_benchmark.py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43983" y="3072384"/>
            <a:ext cx="6080760" cy="47548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26279" y="3127248"/>
            <a:ext cx="5916168" cy="38404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D2B3A"/>
                </a:solidFill>
                <a:latin typeface="Aptos"/>
              </a:rPr>
              <a:t>Host benchmark: fixed bursts, sequence validation and metrics.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524744" y="3072384"/>
            <a:ext cx="1005840" cy="47548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607040" y="3127248"/>
            <a:ext cx="841248" cy="38404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D2B3A"/>
                </a:solidFill>
                <a:latin typeface="Aptos"/>
              </a:rPr>
              <a:t>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4944" y="3547872"/>
            <a:ext cx="3749039" cy="475488"/>
          </a:xfrm>
          <a:prstGeom prst="rect">
            <a:avLst/>
          </a:prstGeom>
          <a:solidFill>
            <a:srgbClr val="EAF2F8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3602736"/>
            <a:ext cx="3584447" cy="38404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D2B3A"/>
                </a:solidFill>
                <a:latin typeface="Aptos"/>
              </a:rPr>
              <a:t>sw/udp_loopback_test.py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443983" y="3547872"/>
            <a:ext cx="6080760" cy="475488"/>
          </a:xfrm>
          <a:prstGeom prst="rect">
            <a:avLst/>
          </a:prstGeom>
          <a:solidFill>
            <a:srgbClr val="EAF2F8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26279" y="3602736"/>
            <a:ext cx="5916168" cy="38404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D2B3A"/>
                </a:solidFill>
                <a:latin typeface="Aptos"/>
              </a:rPr>
              <a:t>Host functional test: exact payload echo verification.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524744" y="3547872"/>
            <a:ext cx="1005840" cy="475488"/>
          </a:xfrm>
          <a:prstGeom prst="rect">
            <a:avLst/>
          </a:prstGeom>
          <a:solidFill>
            <a:srgbClr val="EAF2F8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607040" y="3602736"/>
            <a:ext cx="841248" cy="38404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D2B3A"/>
                </a:solidFill>
                <a:latin typeface="Aptos"/>
              </a:rPr>
              <a:t>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4944" y="4023360"/>
            <a:ext cx="3749039" cy="47548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77240" y="4078224"/>
            <a:ext cx="3584447" cy="38404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D2B3A"/>
                </a:solidFill>
                <a:latin typeface="Aptos"/>
              </a:rPr>
              <a:t>sw/compare_results.py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443983" y="4023360"/>
            <a:ext cx="6080760" cy="47548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26279" y="4078224"/>
            <a:ext cx="5916168" cy="38404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D2B3A"/>
                </a:solidFill>
                <a:latin typeface="Aptos"/>
              </a:rPr>
              <a:t>Analysis tool: compare repeated-run medians.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524744" y="4023360"/>
            <a:ext cx="1005840" cy="47548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607040" y="4078224"/>
            <a:ext cx="841248" cy="38404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D2B3A"/>
                </a:solidFill>
                <a:latin typeface="Aptos"/>
              </a:rPr>
              <a:t>5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59536" y="4663440"/>
            <a:ext cx="10424160" cy="658368"/>
          </a:xfrm>
          <a:prstGeom prst="roundRect">
            <a:avLst>
              <a:gd name="adj" fmla="val 10000"/>
            </a:avLst>
          </a:prstGeom>
          <a:solidFill>
            <a:srgbClr val="E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97280" y="4837176"/>
            <a:ext cx="992124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 i="0">
                <a:solidFill>
                  <a:srgbClr val="10243A"/>
                </a:solidFill>
                <a:latin typeface="Aptos"/>
              </a:rPr>
              <a:t>The PPT is a presentation copy. Use the linked repository files as the editable source of truth.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1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38404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 i="0">
                <a:solidFill>
                  <a:srgbClr val="11B5A4"/>
                </a:solidFill>
                <a:latin typeface="Aptos"/>
              </a:rPr>
              <a:t>APPENDIX | FULL SOURCE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110996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500" b="1" i="0">
                <a:solidFill>
                  <a:srgbClr val="10243A"/>
                </a:solidFill>
                <a:latin typeface="Aptos"/>
              </a:rPr>
              <a:t>Source: udp_echo_server.py  •  1/3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15568"/>
            <a:ext cx="109728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637487"/>
                </a:solidFill>
                <a:latin typeface="Aptos"/>
              </a:rPr>
              <a:t>Python baseline: one recvfrom/sendto per datagram.  |  source lines 1–22 of 60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492240"/>
            <a:ext cx="11183112" cy="0"/>
          </a:xfrm>
          <a:prstGeom prst="line">
            <a:avLst/>
          </a:prstGeom>
          <a:ln w="10160">
            <a:solidFill>
              <a:srgbClr val="D8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547104"/>
            <a:ext cx="69494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637487"/>
                </a:solidFill>
                <a:latin typeface="Aptos"/>
              </a:rPr>
              <a:t>PYNQ-Z2  |  PS UDP performance study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3968" y="6528816"/>
            <a:ext cx="4572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637487"/>
                </a:solidFill>
                <a:latin typeface="Aptos"/>
              </a:rPr>
              <a:t>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" y="1645920"/>
            <a:ext cx="10991088" cy="4663440"/>
          </a:xfrm>
          <a:prstGeom prst="roundRect">
            <a:avLst>
              <a:gd name="adj" fmla="val 10000"/>
            </a:avLst>
          </a:prstGeom>
          <a:solidFill>
            <a:srgbClr val="10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737360"/>
            <a:ext cx="10716768" cy="4480560"/>
          </a:xfrm>
          <a:prstGeom prst="rect">
            <a:avLst/>
          </a:prstGeom>
          <a:noFill/>
        </p:spPr>
        <p:txBody>
          <a:bodyPr wrap="none" lIns="36576" rIns="36576" tIns="36576" bIns="18288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#!/usr/bin/env python3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"""Baseline PS UDP echo server: one receive and one send call per datagram."""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import argparse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import socket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import time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def main():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parser = argparse.ArgumentParser(description=__doc__)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parser.add_argument("--bind", default="0.0.0.0")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parser.add_argument("--port", type=int, default=5001)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parser.add_argument("--max-payload", type=int, default=1472)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parser.add_argument("--socket-buffer", type=int, default=4 * 1024 * 1024)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args = parser.parse_args()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if not 1 &lt;= args.port &lt;= 65535: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parser.error("port must be between 1 and 65535")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if not 1 &lt;= args.max_payload &lt;= 65507: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parser.error("max-payload must be between 1 and 65507")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if args.socket_buffer &lt;= 0: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parser.error("socket-buffer must be positive")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1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38404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 i="0">
                <a:solidFill>
                  <a:srgbClr val="11B5A4"/>
                </a:solidFill>
                <a:latin typeface="Aptos"/>
              </a:rPr>
              <a:t>APPENDIX | FULL SOURCE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110996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500" b="1" i="0">
                <a:solidFill>
                  <a:srgbClr val="10243A"/>
                </a:solidFill>
                <a:latin typeface="Aptos"/>
              </a:rPr>
              <a:t>Source: udp_echo_server.py  •  2/3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15568"/>
            <a:ext cx="109728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637487"/>
                </a:solidFill>
                <a:latin typeface="Aptos"/>
              </a:rPr>
              <a:t>Python baseline: one recvfrom/sendto per datagram.  |  source lines 23–44 of 60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492240"/>
            <a:ext cx="11183112" cy="0"/>
          </a:xfrm>
          <a:prstGeom prst="line">
            <a:avLst/>
          </a:prstGeom>
          <a:ln w="10160">
            <a:solidFill>
              <a:srgbClr val="D8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547104"/>
            <a:ext cx="69494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637487"/>
                </a:solidFill>
                <a:latin typeface="Aptos"/>
              </a:rPr>
              <a:t>PYNQ-Z2  |  PS UDP performance study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3968" y="6528816"/>
            <a:ext cx="4572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637487"/>
                </a:solidFill>
                <a:latin typeface="Aptos"/>
              </a:rPr>
              <a:t>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" y="1645920"/>
            <a:ext cx="10991088" cy="4663440"/>
          </a:xfrm>
          <a:prstGeom prst="roundRect">
            <a:avLst>
              <a:gd name="adj" fmla="val 10000"/>
            </a:avLst>
          </a:prstGeom>
          <a:solidFill>
            <a:srgbClr val="10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737360"/>
            <a:ext cx="10716768" cy="4480560"/>
          </a:xfrm>
          <a:prstGeom prst="rect">
            <a:avLst/>
          </a:prstGeom>
          <a:noFill/>
        </p:spPr>
        <p:txBody>
          <a:bodyPr wrap="none" lIns="36576" rIns="36576" tIns="36576" bIns="18288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packets = 0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bytes_echoed = 0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started = time.monotonic()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cpu_started = time.process_time()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with socket.socket(socket.AF_INET, socket.SOCK_DGRAM) as server: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server.setsockopt(socket.SOL_SOCKET, socket.SO_RCVBUF, args.socket_buffer)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server.setsockopt(socket.SOL_SOCKET, socket.SO_SNDBUF, args.socket_buffer)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server.bind((args.bind, args.port))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server.settimeout(1.0)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print("Python baseline listening on {}:{} "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"(requested_socket_buffer={} actual_receive_buffer={} "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"actual_send_buffer={})".format(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  args.bind, args.port, args.socket_buffer,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  server.getsockopt(socket.SOL_SOCKET, socket.SO_RCVBUF),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  server.getsockopt(socket.SOL_SOCKET, socket.SO_SNDBUF)),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flush=True)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try: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while True: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try: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    payload, peer = server.recvfrom(args.max_payload + 1)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except socket.timeout: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    continue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1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38404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 i="0">
                <a:solidFill>
                  <a:srgbClr val="11B5A4"/>
                </a:solidFill>
                <a:latin typeface="Aptos"/>
              </a:rPr>
              <a:t>APPENDIX | FULL SOURCE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110996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500" b="1" i="0">
                <a:solidFill>
                  <a:srgbClr val="10243A"/>
                </a:solidFill>
                <a:latin typeface="Aptos"/>
              </a:rPr>
              <a:t>Source: udp_echo_server.py  •  3/3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15568"/>
            <a:ext cx="109728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637487"/>
                </a:solidFill>
                <a:latin typeface="Aptos"/>
              </a:rPr>
              <a:t>Python baseline: one recvfrom/sendto per datagram.  |  source lines 45–60 of 60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492240"/>
            <a:ext cx="11183112" cy="0"/>
          </a:xfrm>
          <a:prstGeom prst="line">
            <a:avLst/>
          </a:prstGeom>
          <a:ln w="10160">
            <a:solidFill>
              <a:srgbClr val="D8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547104"/>
            <a:ext cx="69494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637487"/>
                </a:solidFill>
                <a:latin typeface="Aptos"/>
              </a:rPr>
              <a:t>PYNQ-Z2  |  PS UDP performance study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3968" y="6528816"/>
            <a:ext cx="4572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637487"/>
                </a:solidFill>
                <a:latin typeface="Aptos"/>
              </a:rP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" y="1645920"/>
            <a:ext cx="10991088" cy="4663440"/>
          </a:xfrm>
          <a:prstGeom prst="roundRect">
            <a:avLst>
              <a:gd name="adj" fmla="val 10000"/>
            </a:avLst>
          </a:prstGeom>
          <a:solidFill>
            <a:srgbClr val="10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737360"/>
            <a:ext cx="10716768" cy="4480560"/>
          </a:xfrm>
          <a:prstGeom prst="rect">
            <a:avLst/>
          </a:prstGeom>
          <a:noFill/>
        </p:spPr>
        <p:txBody>
          <a:bodyPr wrap="none" lIns="36576" rIns="36576" tIns="36576" bIns="18288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if len(payload) &gt; args.max_payload: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    continue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server.sendto(payload, peer)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packets += 1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bytes_echoed += len(payload)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except KeyboardInterrupt: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elapsed = time.monotonic() - started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cpu_seconds = time.process_time() - cpu_started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print("\nvariant=python packets={} bytes={} wall_seconds={:.3f} "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  "process_cpu_seconds={:.3f}".format(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      packets, bytes_echoed, elapsed, cpu_seconds))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if __name__ == "__main__":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main()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1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38404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 i="0">
                <a:solidFill>
                  <a:srgbClr val="11B5A4"/>
                </a:solidFill>
                <a:latin typeface="Aptos"/>
              </a:rPr>
              <a:t>APPENDIX | FULL SOURCE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110996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500" b="1" i="0">
                <a:solidFill>
                  <a:srgbClr val="10243A"/>
                </a:solidFill>
                <a:latin typeface="Aptos"/>
              </a:rPr>
              <a:t>Source: udp_echo_server_batch.c  •  1/13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15568"/>
            <a:ext cx="109728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637487"/>
                </a:solidFill>
                <a:latin typeface="Aptos"/>
              </a:rPr>
              <a:t>C candidate: Linux recvmmsg/sendmmsg batched echo server.  |  source lines 1–22 of 277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492240"/>
            <a:ext cx="11183112" cy="0"/>
          </a:xfrm>
          <a:prstGeom prst="line">
            <a:avLst/>
          </a:prstGeom>
          <a:ln w="10160">
            <a:solidFill>
              <a:srgbClr val="D8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547104"/>
            <a:ext cx="69494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637487"/>
                </a:solidFill>
                <a:latin typeface="Aptos"/>
              </a:rPr>
              <a:t>PYNQ-Z2  |  PS UDP performance study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3968" y="6528816"/>
            <a:ext cx="4572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637487"/>
                </a:solidFill>
                <a:latin typeface="Aptos"/>
              </a:rPr>
              <a:t>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" y="1645920"/>
            <a:ext cx="10991088" cy="4663440"/>
          </a:xfrm>
          <a:prstGeom prst="roundRect">
            <a:avLst>
              <a:gd name="adj" fmla="val 10000"/>
            </a:avLst>
          </a:prstGeom>
          <a:solidFill>
            <a:srgbClr val="10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737360"/>
            <a:ext cx="10716768" cy="4480560"/>
          </a:xfrm>
          <a:prstGeom prst="rect">
            <a:avLst/>
          </a:prstGeom>
          <a:noFill/>
        </p:spPr>
        <p:txBody>
          <a:bodyPr wrap="none" lIns="36576" rIns="36576" tIns="36576" bIns="18288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#define _GNU_SOURCE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#include &lt;arpa/inet.h&gt;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#include &lt;errno.h&gt;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#include &lt;signal.h&gt;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#include &lt;stdint.h&gt;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#include &lt;stdio.h&gt;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#include &lt;stdlib.h&gt;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#include &lt;string.h&gt;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#include &lt;sys/socket.h&gt;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#include &lt;time.h&gt;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#include &lt;unistd.h&gt;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#define MAX_PAYLOAD 1472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#define BATCH_SIZE 32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#define DEFAULT_PORT 5001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#define DEFAULT_SOCKET_BUFFER (4 * 1024 * 1024)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struct packet_slot {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unsigned char data[MAX_PAYLOAD];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struct sockaddr_in peer;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};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1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38404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 i="0">
                <a:solidFill>
                  <a:srgbClr val="11B5A4"/>
                </a:solidFill>
                <a:latin typeface="Aptos"/>
              </a:rPr>
              <a:t>APPENDIX | FULL SOURCE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110996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500" b="1" i="0">
                <a:solidFill>
                  <a:srgbClr val="10243A"/>
                </a:solidFill>
                <a:latin typeface="Aptos"/>
              </a:rPr>
              <a:t>Source: udp_echo_server_batch.c  •  2/13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15568"/>
            <a:ext cx="109728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637487"/>
                </a:solidFill>
                <a:latin typeface="Aptos"/>
              </a:rPr>
              <a:t>C candidate: Linux recvmmsg/sendmmsg batched echo server.  |  source lines 23–44 of 277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492240"/>
            <a:ext cx="11183112" cy="0"/>
          </a:xfrm>
          <a:prstGeom prst="line">
            <a:avLst/>
          </a:prstGeom>
          <a:ln w="10160">
            <a:solidFill>
              <a:srgbClr val="D8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547104"/>
            <a:ext cx="69494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637487"/>
                </a:solidFill>
                <a:latin typeface="Aptos"/>
              </a:rPr>
              <a:t>PYNQ-Z2  |  PS UDP performance study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3968" y="6528816"/>
            <a:ext cx="4572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637487"/>
                </a:solidFill>
                <a:latin typeface="Aptos"/>
              </a:rPr>
              <a:t>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" y="1645920"/>
            <a:ext cx="10991088" cy="4663440"/>
          </a:xfrm>
          <a:prstGeom prst="roundRect">
            <a:avLst>
              <a:gd name="adj" fmla="val 10000"/>
            </a:avLst>
          </a:prstGeom>
          <a:solidFill>
            <a:srgbClr val="10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737360"/>
            <a:ext cx="10716768" cy="4480560"/>
          </a:xfrm>
          <a:prstGeom prst="rect">
            <a:avLst/>
          </a:prstGeom>
          <a:noFill/>
        </p:spPr>
        <p:txBody>
          <a:bodyPr wrap="none" lIns="36576" rIns="36576" tIns="36576" bIns="18288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static volatile sig_atomic_t stop_requested = 0;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static void handle_signal(int signal_number)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{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(void)signal_number;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stop_requested = 1;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}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static int parse_positive(const char *text, long maximum, long *value)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{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char *end = NULL;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long parsed;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errno = 0;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parsed = strtol(text, &amp;end, 10);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if (errno != 0 || end == text || *end != '\0' || parsed &lt;= 0 ||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parsed &gt; maximum) {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return -1;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}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*value = parsed;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return 0;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1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38404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 i="0">
                <a:solidFill>
                  <a:srgbClr val="11B5A4"/>
                </a:solidFill>
                <a:latin typeface="Aptos"/>
              </a:rPr>
              <a:t>APPENDIX | FULL SOURCE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110996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500" b="1" i="0">
                <a:solidFill>
                  <a:srgbClr val="10243A"/>
                </a:solidFill>
                <a:latin typeface="Aptos"/>
              </a:rPr>
              <a:t>Source: udp_echo_server_batch.c  •  3/13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15568"/>
            <a:ext cx="109728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637487"/>
                </a:solidFill>
                <a:latin typeface="Aptos"/>
              </a:rPr>
              <a:t>C candidate: Linux recvmmsg/sendmmsg batched echo server.  |  source lines 45–66 of 277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492240"/>
            <a:ext cx="11183112" cy="0"/>
          </a:xfrm>
          <a:prstGeom prst="line">
            <a:avLst/>
          </a:prstGeom>
          <a:ln w="10160">
            <a:solidFill>
              <a:srgbClr val="D8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547104"/>
            <a:ext cx="69494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637487"/>
                </a:solidFill>
                <a:latin typeface="Aptos"/>
              </a:rPr>
              <a:t>PYNQ-Z2  |  PS UDP performance study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3968" y="6528816"/>
            <a:ext cx="4572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637487"/>
                </a:solidFill>
                <a:latin typeface="Aptos"/>
              </a:rPr>
              <a:t>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" y="1645920"/>
            <a:ext cx="10991088" cy="4663440"/>
          </a:xfrm>
          <a:prstGeom prst="roundRect">
            <a:avLst>
              <a:gd name="adj" fmla="val 10000"/>
            </a:avLst>
          </a:prstGeom>
          <a:solidFill>
            <a:srgbClr val="10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737360"/>
            <a:ext cx="10716768" cy="4480560"/>
          </a:xfrm>
          <a:prstGeom prst="rect">
            <a:avLst/>
          </a:prstGeom>
          <a:noFill/>
        </p:spPr>
        <p:txBody>
          <a:bodyPr wrap="none" lIns="36576" rIns="36576" tIns="36576" bIns="18288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}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static double seconds_between(const struct timespec *start,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              const struct timespec *end)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{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return (double)(end-&gt;tv_sec - start-&gt;tv_sec) +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(double)(end-&gt;tv_nsec - start-&gt;tv_nsec) / 1000000000.0;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}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int main(int argc, char **argv)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{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struct packet_slot slots[BATCH_SIZE];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struct iovec receive_iov[BATCH_SIZE];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struct iovec send_iov[BATCH_SIZE];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struct mmsghdr receive_messages[BATCH_SIZE];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struct mmsghdr send_messages[BATCH_SIZE];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struct sockaddr_in local_address;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struct sigaction action;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struct timespec wall_start;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struct timespec wall_end;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struct timespec cpu_start;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struct timespec cpu_end;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1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38404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 i="0">
                <a:solidFill>
                  <a:srgbClr val="11B5A4"/>
                </a:solidFill>
                <a:latin typeface="Aptos"/>
              </a:rPr>
              <a:t>APPENDIX | FULL SOURCE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110996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500" b="1" i="0">
                <a:solidFill>
                  <a:srgbClr val="10243A"/>
                </a:solidFill>
                <a:latin typeface="Aptos"/>
              </a:rPr>
              <a:t>Source: udp_echo_server_batch.c  •  4/13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15568"/>
            <a:ext cx="109728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637487"/>
                </a:solidFill>
                <a:latin typeface="Aptos"/>
              </a:rPr>
              <a:t>C candidate: Linux recvmmsg/sendmmsg batched echo server.  |  source lines 67–88 of 277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492240"/>
            <a:ext cx="11183112" cy="0"/>
          </a:xfrm>
          <a:prstGeom prst="line">
            <a:avLst/>
          </a:prstGeom>
          <a:ln w="10160">
            <a:solidFill>
              <a:srgbClr val="D8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547104"/>
            <a:ext cx="69494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637487"/>
                </a:solidFill>
                <a:latin typeface="Aptos"/>
              </a:rPr>
              <a:t>PYNQ-Z2  |  PS UDP performance study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3968" y="6528816"/>
            <a:ext cx="4572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637487"/>
                </a:solidFill>
                <a:latin typeface="Aptos"/>
              </a:rPr>
              <a:t>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" y="1645920"/>
            <a:ext cx="10991088" cy="4663440"/>
          </a:xfrm>
          <a:prstGeom prst="roundRect">
            <a:avLst>
              <a:gd name="adj" fmla="val 10000"/>
            </a:avLst>
          </a:prstGeom>
          <a:solidFill>
            <a:srgbClr val="10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737360"/>
            <a:ext cx="10716768" cy="4480560"/>
          </a:xfrm>
          <a:prstGeom prst="rect">
            <a:avLst/>
          </a:prstGeom>
          <a:noFill/>
        </p:spPr>
        <p:txBody>
          <a:bodyPr wrap="none" lIns="36576" rIns="36576" tIns="36576" bIns="18288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long port = DEFAULT_PORT;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long socket_buffer = DEFAULT_SOCKET_BUFFER;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int socket_buffer_setting;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unsigned long long packets_received = 0;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unsigned long long packets_echoed = 0;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unsigned long long bytes_echoed = 0;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unsigned long long oversized_packets = 0;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int receive_buffer_actual;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int send_buffer_actual;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socklen_t option_size;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int socket_fd;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unsigned int index;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if (argc &gt; 3 ||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(argc &gt;= 2 &amp;&amp; parse_positive(argv[1], 65535, &amp;port) != 0) ||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(argc == 3 &amp;&amp; parse_positive(argv[2], 64 * 1024 * 1024,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                     &amp;socket_buffer) != 0)) {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fprintf(stderr, "Usage: %s [port 1..65535] [socket-buffer-bytes]\n",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argv[0]);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return EXIT_FAILURE;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}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1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38404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 i="0">
                <a:solidFill>
                  <a:srgbClr val="11B5A4"/>
                </a:solidFill>
                <a:latin typeface="Aptos"/>
              </a:rPr>
              <a:t>APPENDIX | FULL SOURCE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110996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500" b="1" i="0">
                <a:solidFill>
                  <a:srgbClr val="10243A"/>
                </a:solidFill>
                <a:latin typeface="Aptos"/>
              </a:rPr>
              <a:t>Source: udp_echo_server_batch.c  •  5/13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15568"/>
            <a:ext cx="109728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637487"/>
                </a:solidFill>
                <a:latin typeface="Aptos"/>
              </a:rPr>
              <a:t>C candidate: Linux recvmmsg/sendmmsg batched echo server.  |  source lines 89–110 of 277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492240"/>
            <a:ext cx="11183112" cy="0"/>
          </a:xfrm>
          <a:prstGeom prst="line">
            <a:avLst/>
          </a:prstGeom>
          <a:ln w="10160">
            <a:solidFill>
              <a:srgbClr val="D8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547104"/>
            <a:ext cx="69494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637487"/>
                </a:solidFill>
                <a:latin typeface="Aptos"/>
              </a:rPr>
              <a:t>PYNQ-Z2  |  PS UDP performance study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3968" y="6528816"/>
            <a:ext cx="4572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637487"/>
                </a:solidFill>
                <a:latin typeface="Aptos"/>
              </a:rPr>
              <a:t>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" y="1645920"/>
            <a:ext cx="10991088" cy="4663440"/>
          </a:xfrm>
          <a:prstGeom prst="roundRect">
            <a:avLst>
              <a:gd name="adj" fmla="val 10000"/>
            </a:avLst>
          </a:prstGeom>
          <a:solidFill>
            <a:srgbClr val="10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737360"/>
            <a:ext cx="10716768" cy="4480560"/>
          </a:xfrm>
          <a:prstGeom prst="rect">
            <a:avLst/>
          </a:prstGeom>
          <a:noFill/>
        </p:spPr>
        <p:txBody>
          <a:bodyPr wrap="none" lIns="36576" rIns="36576" tIns="36576" bIns="18288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memset(slots, 0, sizeof(slots));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memset(receive_messages, 0, sizeof(receive_messages));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memset(send_messages, 0, sizeof(send_messages));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for (index = 0; index &lt; BATCH_SIZE; ++index) {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receive_iov[index].iov_base = slots[index].data;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receive_iov[index].iov_len = sizeof(slots[index].data);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receive_messages[index].msg_hdr.msg_name = &amp;slots[index].peer;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receive_messages[index].msg_hdr.msg_namelen =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sizeof(slots[index].peer);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receive_messages[index].msg_hdr.msg_iov = &amp;receive_iov[index];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receive_messages[index].msg_hdr.msg_iovlen = 1;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send_iov[index].iov_base = slots[index].data;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send_iov[index].iov_len = 0;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send_messages[index].msg_hdr.msg_name = &amp;slots[index].peer;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send_messages[index].msg_hdr.msg_namelen =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sizeof(slots[index].peer);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send_messages[index].msg_hdr.msg_iov = &amp;send_iov[index];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send_messages[index].msg_hdr.msg_iovlen = 1;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}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socket_fd = socket(AF_INET, SOCK_DGRAM, 0);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1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38404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 i="0">
                <a:solidFill>
                  <a:srgbClr val="11B5A4"/>
                </a:solidFill>
                <a:latin typeface="Aptos"/>
              </a:rPr>
              <a:t>APPENDIX | FULL SOURCE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110996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500" b="1" i="0">
                <a:solidFill>
                  <a:srgbClr val="10243A"/>
                </a:solidFill>
                <a:latin typeface="Aptos"/>
              </a:rPr>
              <a:t>Source: udp_echo_server_batch.c  •  6/13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15568"/>
            <a:ext cx="109728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637487"/>
                </a:solidFill>
                <a:latin typeface="Aptos"/>
              </a:rPr>
              <a:t>C candidate: Linux recvmmsg/sendmmsg batched echo server.  |  source lines 111–132 of 277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492240"/>
            <a:ext cx="11183112" cy="0"/>
          </a:xfrm>
          <a:prstGeom prst="line">
            <a:avLst/>
          </a:prstGeom>
          <a:ln w="10160">
            <a:solidFill>
              <a:srgbClr val="D8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547104"/>
            <a:ext cx="69494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637487"/>
                </a:solidFill>
                <a:latin typeface="Aptos"/>
              </a:rPr>
              <a:t>PYNQ-Z2  |  PS UDP performance study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3968" y="6528816"/>
            <a:ext cx="4572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637487"/>
                </a:solidFill>
                <a:latin typeface="Aptos"/>
              </a:rPr>
              <a:t>29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" y="1645920"/>
            <a:ext cx="10991088" cy="4663440"/>
          </a:xfrm>
          <a:prstGeom prst="roundRect">
            <a:avLst>
              <a:gd name="adj" fmla="val 10000"/>
            </a:avLst>
          </a:prstGeom>
          <a:solidFill>
            <a:srgbClr val="10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737360"/>
            <a:ext cx="10716768" cy="4480560"/>
          </a:xfrm>
          <a:prstGeom prst="rect">
            <a:avLst/>
          </a:prstGeom>
          <a:noFill/>
        </p:spPr>
        <p:txBody>
          <a:bodyPr wrap="none" lIns="36576" rIns="36576" tIns="36576" bIns="18288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if (socket_fd &lt; 0) {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perror("socket");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return EXIT_FAILURE;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}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socket_buffer_setting = (int)socket_buffer;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if (setsockopt(socket_fd, SOL_SOCKET, SO_RCVBUF, &amp;socket_buffer_setting,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   sizeof(socket_buffer_setting)) &lt; 0 ||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setsockopt(socket_fd, SOL_SOCKET, SO_SNDBUF, &amp;socket_buffer_setting,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   sizeof(socket_buffer_setting)) &lt; 0) {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perror("setsockopt");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close(socket_fd);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return EXIT_FAILURE;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}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option_size = sizeof(receive_buffer_actual);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if (getsockopt(socket_fd, SOL_SOCKET, SO_RCVBUF, &amp;receive_buffer_actual,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   &amp;option_size) &lt; 0) {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perror("getsockopt SO_RCVBUF");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close(socket_fd);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return EXIT_FAILURE;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}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option_size = sizeof(send_buffer_actual);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if (getsockopt(socket_fd, SOL_SOCKET, SO_SNDBUF, &amp;send_buffer_actual,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1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38404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 i="0">
                <a:solidFill>
                  <a:srgbClr val="11B5A4"/>
                </a:solidFill>
                <a:latin typeface="Aptos"/>
              </a:rPr>
              <a:t>APPENDIX | FULL SOURCE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110996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500" b="1" i="0">
                <a:solidFill>
                  <a:srgbClr val="10243A"/>
                </a:solidFill>
                <a:latin typeface="Aptos"/>
              </a:rPr>
              <a:t>Source: udp_echo_server_batch.c  •  7/13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15568"/>
            <a:ext cx="109728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637487"/>
                </a:solidFill>
                <a:latin typeface="Aptos"/>
              </a:rPr>
              <a:t>C candidate: Linux recvmmsg/sendmmsg batched echo server.  |  source lines 133–154 of 277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492240"/>
            <a:ext cx="11183112" cy="0"/>
          </a:xfrm>
          <a:prstGeom prst="line">
            <a:avLst/>
          </a:prstGeom>
          <a:ln w="10160">
            <a:solidFill>
              <a:srgbClr val="D8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547104"/>
            <a:ext cx="69494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637487"/>
                </a:solidFill>
                <a:latin typeface="Aptos"/>
              </a:rPr>
              <a:t>PYNQ-Z2  |  PS UDP performance study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3968" y="6528816"/>
            <a:ext cx="4572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637487"/>
                </a:solidFill>
                <a:latin typeface="Aptos"/>
              </a:rPr>
              <a:t>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" y="1645920"/>
            <a:ext cx="10991088" cy="4663440"/>
          </a:xfrm>
          <a:prstGeom prst="roundRect">
            <a:avLst>
              <a:gd name="adj" fmla="val 10000"/>
            </a:avLst>
          </a:prstGeom>
          <a:solidFill>
            <a:srgbClr val="10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737360"/>
            <a:ext cx="10716768" cy="4480560"/>
          </a:xfrm>
          <a:prstGeom prst="rect">
            <a:avLst/>
          </a:prstGeom>
          <a:noFill/>
        </p:spPr>
        <p:txBody>
          <a:bodyPr wrap="none" lIns="36576" rIns="36576" tIns="36576" bIns="18288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   &amp;option_size) &lt; 0) {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perror("getsockopt SO_SNDBUF");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close(socket_fd);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return EXIT_FAILURE;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}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memset(&amp;local_address, 0, sizeof(local_address));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local_address.sin_family = AF_INET;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local_address.sin_addr.s_addr = htonl(INADDR_ANY);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local_address.sin_port = htons((uint16_t)port);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if (bind(socket_fd, (struct sockaddr *)&amp;local_address,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sizeof(local_address)) &lt; 0) {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perror("bind");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close(socket_fd);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return EXIT_FAILURE;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}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memset(&amp;action, 0, sizeof(action));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action.sa_handler = handle_signal;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sigemptyset(&amp;action.sa_mask);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if (sigaction(SIGINT, &amp;action, NULL) &lt; 0 ||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sigaction(SIGTERM, &amp;action, NULL) &lt; 0) {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1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38404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 i="0">
                <a:solidFill>
                  <a:srgbClr val="11B5A4"/>
                </a:solidFill>
                <a:latin typeface="Aptos"/>
              </a:rPr>
              <a:t>APPENDIX | FULL SOURCE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110996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500" b="1" i="0">
                <a:solidFill>
                  <a:srgbClr val="10243A"/>
                </a:solidFill>
                <a:latin typeface="Aptos"/>
              </a:rPr>
              <a:t>Source: udp_echo_server_batch.c  •  8/13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15568"/>
            <a:ext cx="109728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637487"/>
                </a:solidFill>
                <a:latin typeface="Aptos"/>
              </a:rPr>
              <a:t>C candidate: Linux recvmmsg/sendmmsg batched echo server.  |  source lines 155–176 of 277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492240"/>
            <a:ext cx="11183112" cy="0"/>
          </a:xfrm>
          <a:prstGeom prst="line">
            <a:avLst/>
          </a:prstGeom>
          <a:ln w="10160">
            <a:solidFill>
              <a:srgbClr val="D8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547104"/>
            <a:ext cx="69494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637487"/>
                </a:solidFill>
                <a:latin typeface="Aptos"/>
              </a:rPr>
              <a:t>PYNQ-Z2  |  PS UDP performance study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3968" y="6528816"/>
            <a:ext cx="4572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637487"/>
                </a:solidFill>
                <a:latin typeface="Aptos"/>
              </a:rPr>
              <a:t>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" y="1645920"/>
            <a:ext cx="10991088" cy="4663440"/>
          </a:xfrm>
          <a:prstGeom prst="roundRect">
            <a:avLst>
              <a:gd name="adj" fmla="val 10000"/>
            </a:avLst>
          </a:prstGeom>
          <a:solidFill>
            <a:srgbClr val="10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737360"/>
            <a:ext cx="10716768" cy="4480560"/>
          </a:xfrm>
          <a:prstGeom prst="rect">
            <a:avLst/>
          </a:prstGeom>
          <a:noFill/>
        </p:spPr>
        <p:txBody>
          <a:bodyPr wrap="none" lIns="36576" rIns="36576" tIns="36576" bIns="18288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perror("sigaction");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close(socket_fd);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return EXIT_FAILURE;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}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if (clock_gettime(CLOCK_MONOTONIC, &amp;wall_start) &lt; 0 ||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clock_gettime(CLOCK_PROCESS_CPUTIME_ID, &amp;cpu_start) &lt; 0) {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perror("clock_gettime");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close(socket_fd);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return EXIT_FAILURE;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}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printf("C batched server listening on 0.0.0.0:%ld "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"(batch=%d requested_socket_buffer=%ld "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"actual_receive_buffer=%d actual_send_buffer=%d)\n",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port, BATCH_SIZE, socket_buffer, receive_buffer_actual,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send_buffer_actual);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fflush(stdout);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while (!stop_requested) {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int received;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unsigned int slot_index;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1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38404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 i="0">
                <a:solidFill>
                  <a:srgbClr val="11B5A4"/>
                </a:solidFill>
                <a:latin typeface="Aptos"/>
              </a:rPr>
              <a:t>APPENDIX | FULL SOURCE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110996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500" b="1" i="0">
                <a:solidFill>
                  <a:srgbClr val="10243A"/>
                </a:solidFill>
                <a:latin typeface="Aptos"/>
              </a:rPr>
              <a:t>Source: udp_echo_server_batch.c  •  9/13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15568"/>
            <a:ext cx="109728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637487"/>
                </a:solidFill>
                <a:latin typeface="Aptos"/>
              </a:rPr>
              <a:t>C candidate: Linux recvmmsg/sendmmsg batched echo server.  |  source lines 177–198 of 277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492240"/>
            <a:ext cx="11183112" cy="0"/>
          </a:xfrm>
          <a:prstGeom prst="line">
            <a:avLst/>
          </a:prstGeom>
          <a:ln w="10160">
            <a:solidFill>
              <a:srgbClr val="D8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547104"/>
            <a:ext cx="69494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637487"/>
                </a:solidFill>
                <a:latin typeface="Aptos"/>
              </a:rPr>
              <a:t>PYNQ-Z2  |  PS UDP performance study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3968" y="6528816"/>
            <a:ext cx="4572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637487"/>
                </a:solidFill>
                <a:latin typeface="Aptos"/>
              </a:rPr>
              <a:t>32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" y="1645920"/>
            <a:ext cx="10991088" cy="4663440"/>
          </a:xfrm>
          <a:prstGeom prst="roundRect">
            <a:avLst>
              <a:gd name="adj" fmla="val 10000"/>
            </a:avLst>
          </a:prstGeom>
          <a:solidFill>
            <a:srgbClr val="10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737360"/>
            <a:ext cx="10716768" cy="4480560"/>
          </a:xfrm>
          <a:prstGeom prst="rect">
            <a:avLst/>
          </a:prstGeom>
          <a:noFill/>
        </p:spPr>
        <p:txBody>
          <a:bodyPr wrap="none" lIns="36576" rIns="36576" tIns="36576" bIns="18288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for (index = 0; index &lt; BATCH_SIZE; ++index) {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receive_messages[index].msg_hdr.msg_namelen =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sizeof(slots[index].peer);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receive_messages[index].msg_hdr.msg_flags = 0;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receive_messages[index].msg_len = 0;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}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received = recvmmsg(socket_fd, receive_messages, BATCH_SIZE,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            MSG_WAITFORONE | MSG_TRUNC, NULL);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if (received &lt; 0) {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if (errno == EINTR &amp;&amp; stop_requested) {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break;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}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if (errno == EINTR) {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continue;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}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perror("recvmmsg");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close(socket_fd);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return EXIT_FAILURE;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}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packets_received += (unsigned int)received;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1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38404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 i="0">
                <a:solidFill>
                  <a:srgbClr val="11B5A4"/>
                </a:solidFill>
                <a:latin typeface="Aptos"/>
              </a:rPr>
              <a:t>APPENDIX | FULL SOURCE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110996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500" b="1" i="0">
                <a:solidFill>
                  <a:srgbClr val="10243A"/>
                </a:solidFill>
                <a:latin typeface="Aptos"/>
              </a:rPr>
              <a:t>Source: udp_echo_server_batch.c  •  10/13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15568"/>
            <a:ext cx="109728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637487"/>
                </a:solidFill>
                <a:latin typeface="Aptos"/>
              </a:rPr>
              <a:t>C candidate: Linux recvmmsg/sendmmsg batched echo server.  |  source lines 199–220 of 277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492240"/>
            <a:ext cx="11183112" cy="0"/>
          </a:xfrm>
          <a:prstGeom prst="line">
            <a:avLst/>
          </a:prstGeom>
          <a:ln w="10160">
            <a:solidFill>
              <a:srgbClr val="D8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547104"/>
            <a:ext cx="69494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637487"/>
                </a:solidFill>
                <a:latin typeface="Aptos"/>
              </a:rPr>
              <a:t>PYNQ-Z2  |  PS UDP performance study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3968" y="6528816"/>
            <a:ext cx="4572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637487"/>
                </a:solidFill>
                <a:latin typeface="Aptos"/>
              </a:rPr>
              <a:t>33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" y="1645920"/>
            <a:ext cx="10991088" cy="4663440"/>
          </a:xfrm>
          <a:prstGeom prst="roundRect">
            <a:avLst>
              <a:gd name="adj" fmla="val 10000"/>
            </a:avLst>
          </a:prstGeom>
          <a:solidFill>
            <a:srgbClr val="10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737360"/>
            <a:ext cx="10716768" cy="4480560"/>
          </a:xfrm>
          <a:prstGeom prst="rect">
            <a:avLst/>
          </a:prstGeom>
          <a:noFill/>
        </p:spPr>
        <p:txBody>
          <a:bodyPr wrap="none" lIns="36576" rIns="36576" tIns="36576" bIns="18288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{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unsigned int valid_count = 0;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unsigned int sent_count = 0;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for (slot_index = 0; slot_index &lt; (unsigned int)received;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 ++slot_index) {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if (receive_messages[slot_index].msg_len &gt; MAX_PAYLOAD ||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    (receive_messages[slot_index].msg_hdr.msg_flags &amp; MSG_TRUNC) != 0) {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    continue;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}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if (valid_count != slot_index) {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    memmove(slots[valid_count].data, slots[slot_index].data,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            receive_messages[slot_index].msg_len);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    slots[valid_count].peer = slots[slot_index].peer;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}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send_iov[valid_count].iov_base = slots[valid_count].data;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send_iov[valid_count].iov_len =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    receive_messages[slot_index].msg_len;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send_messages[valid_count].msg_hdr.msg_name =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    &amp;slots[valid_count].peer;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send_messages[valid_count].msg_hdr.msg_namelen =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    receive_messages[slot_index].msg_hdr.msg_namelen;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1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38404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 i="0">
                <a:solidFill>
                  <a:srgbClr val="11B5A4"/>
                </a:solidFill>
                <a:latin typeface="Aptos"/>
              </a:rPr>
              <a:t>APPENDIX | FULL SOURCE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110996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500" b="1" i="0">
                <a:solidFill>
                  <a:srgbClr val="10243A"/>
                </a:solidFill>
                <a:latin typeface="Aptos"/>
              </a:rPr>
              <a:t>Source: udp_echo_server_batch.c  •  11/13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15568"/>
            <a:ext cx="109728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637487"/>
                </a:solidFill>
                <a:latin typeface="Aptos"/>
              </a:rPr>
              <a:t>C candidate: Linux recvmmsg/sendmmsg batched echo server.  |  source lines 221–242 of 277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492240"/>
            <a:ext cx="11183112" cy="0"/>
          </a:xfrm>
          <a:prstGeom prst="line">
            <a:avLst/>
          </a:prstGeom>
          <a:ln w="10160">
            <a:solidFill>
              <a:srgbClr val="D8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547104"/>
            <a:ext cx="69494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637487"/>
                </a:solidFill>
                <a:latin typeface="Aptos"/>
              </a:rPr>
              <a:t>PYNQ-Z2  |  PS UDP performance study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3968" y="6528816"/>
            <a:ext cx="4572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637487"/>
                </a:solidFill>
                <a:latin typeface="Aptos"/>
              </a:rPr>
              <a:t>34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" y="1645920"/>
            <a:ext cx="10991088" cy="4663440"/>
          </a:xfrm>
          <a:prstGeom prst="roundRect">
            <a:avLst>
              <a:gd name="adj" fmla="val 10000"/>
            </a:avLst>
          </a:prstGeom>
          <a:solidFill>
            <a:srgbClr val="10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737360"/>
            <a:ext cx="10716768" cy="4480560"/>
          </a:xfrm>
          <a:prstGeom prst="rect">
            <a:avLst/>
          </a:prstGeom>
          <a:noFill/>
        </p:spPr>
        <p:txBody>
          <a:bodyPr wrap="none" lIns="36576" rIns="36576" tIns="36576" bIns="18288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send_messages[valid_count].msg_hdr.msg_iov =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    &amp;send_iov[valid_count];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send_messages[valid_count].msg_hdr.msg_iovlen = 1;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send_messages[valid_count].msg_hdr.msg_flags = 0;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send_messages[valid_count].msg_hdr.msg_control = NULL;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send_messages[valid_count].msg_hdr.msg_controllen = 0;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send_messages[valid_count].msg_len = 0;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valid_count++;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}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while (sent_count &lt; valid_count) {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int sent = sendmmsg(socket_fd, &amp;send_messages[sent_count],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                    valid_count - sent_count, 0);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unsigned int sent_index;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if (sent &lt; 0) {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    if (errno == EINTR &amp;&amp; stop_requested) {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        break;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    }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    if (errno == EINTR) {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        continue;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    }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    perror("sendmmsg");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1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38404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 i="0">
                <a:solidFill>
                  <a:srgbClr val="11B5A4"/>
                </a:solidFill>
                <a:latin typeface="Aptos"/>
              </a:rPr>
              <a:t>APPENDIX | FULL SOURCE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110996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500" b="1" i="0">
                <a:solidFill>
                  <a:srgbClr val="10243A"/>
                </a:solidFill>
                <a:latin typeface="Aptos"/>
              </a:rPr>
              <a:t>Source: udp_echo_server_batch.c  •  12/13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15568"/>
            <a:ext cx="109728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637487"/>
                </a:solidFill>
                <a:latin typeface="Aptos"/>
              </a:rPr>
              <a:t>C candidate: Linux recvmmsg/sendmmsg batched echo server.  |  source lines 243–264 of 277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492240"/>
            <a:ext cx="11183112" cy="0"/>
          </a:xfrm>
          <a:prstGeom prst="line">
            <a:avLst/>
          </a:prstGeom>
          <a:ln w="10160">
            <a:solidFill>
              <a:srgbClr val="D8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547104"/>
            <a:ext cx="69494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637487"/>
                </a:solidFill>
                <a:latin typeface="Aptos"/>
              </a:rPr>
              <a:t>PYNQ-Z2  |  PS UDP performance study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3968" y="6528816"/>
            <a:ext cx="4572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637487"/>
                </a:solidFill>
                <a:latin typeface="Aptos"/>
              </a:rPr>
              <a:t>35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" y="1645920"/>
            <a:ext cx="10991088" cy="4663440"/>
          </a:xfrm>
          <a:prstGeom prst="roundRect">
            <a:avLst>
              <a:gd name="adj" fmla="val 10000"/>
            </a:avLst>
          </a:prstGeom>
          <a:solidFill>
            <a:srgbClr val="10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737360"/>
            <a:ext cx="10716768" cy="4480560"/>
          </a:xfrm>
          <a:prstGeom prst="rect">
            <a:avLst/>
          </a:prstGeom>
          <a:noFill/>
        </p:spPr>
        <p:txBody>
          <a:bodyPr wrap="none" lIns="36576" rIns="36576" tIns="36576" bIns="18288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    close(socket_fd);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    return EXIT_FAILURE;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}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if (sent == 0) {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    fprintf(stderr, "sendmmsg returned zero for nonempty batch\n");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    close(socket_fd);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    return EXIT_FAILURE;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}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for (sent_index = sent_count;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     sent_index &lt; sent_count + (unsigned int)sent;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     ++sent_index) {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    bytes_echoed += send_messages[sent_index].msg_len;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}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sent_count += (unsigned int)sent;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}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packets_echoed += sent_count;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}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}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if (clock_gettime(CLOCK_MONOTONIC, &amp;wall_end) &lt; 0 ||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clock_gettime(CLOCK_PROCESS_CPUTIME_ID, &amp;cpu_end) &lt; 0) {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perror("clock_gettime");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1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38404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 i="0">
                <a:solidFill>
                  <a:srgbClr val="11B5A4"/>
                </a:solidFill>
                <a:latin typeface="Aptos"/>
              </a:rPr>
              <a:t>APPENDIX | FULL SOURCE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110996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500" b="1" i="0">
                <a:solidFill>
                  <a:srgbClr val="10243A"/>
                </a:solidFill>
                <a:latin typeface="Aptos"/>
              </a:rPr>
              <a:t>Source: udp_echo_server_batch.c  •  13/13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15568"/>
            <a:ext cx="109728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637487"/>
                </a:solidFill>
                <a:latin typeface="Aptos"/>
              </a:rPr>
              <a:t>C candidate: Linux recvmmsg/sendmmsg batched echo server.  |  source lines 265–277 of 277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492240"/>
            <a:ext cx="11183112" cy="0"/>
          </a:xfrm>
          <a:prstGeom prst="line">
            <a:avLst/>
          </a:prstGeom>
          <a:ln w="10160">
            <a:solidFill>
              <a:srgbClr val="D8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547104"/>
            <a:ext cx="69494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637487"/>
                </a:solidFill>
                <a:latin typeface="Aptos"/>
              </a:rPr>
              <a:t>PYNQ-Z2  |  PS UDP performance study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3968" y="6528816"/>
            <a:ext cx="4572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637487"/>
                </a:solidFill>
                <a:latin typeface="Aptos"/>
              </a:rPr>
              <a:t>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" y="1645920"/>
            <a:ext cx="10991088" cy="4663440"/>
          </a:xfrm>
          <a:prstGeom prst="roundRect">
            <a:avLst>
              <a:gd name="adj" fmla="val 10000"/>
            </a:avLst>
          </a:prstGeom>
          <a:solidFill>
            <a:srgbClr val="10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737360"/>
            <a:ext cx="10716768" cy="4480560"/>
          </a:xfrm>
          <a:prstGeom prst="rect">
            <a:avLst/>
          </a:prstGeom>
          <a:noFill/>
        </p:spPr>
        <p:txBody>
          <a:bodyPr wrap="none" lIns="36576" rIns="36576" tIns="36576" bIns="18288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close(socket_fd);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return EXIT_FAILURE;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}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printf("\nvariant=c packets_received=%llu packets_echoed=%llu "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"bytes_echoed=%llu oversized=%llu wall_seconds=%.3f "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"process_cpu_seconds=%.3f\n",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packets_received, packets_echoed, bytes_echoed, oversized_packets,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seconds_between(&amp;wall_start, &amp;wall_end),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seconds_between(&amp;cpu_start, &amp;cpu_end));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close(socket_fd);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return EXIT_SUCCESS;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}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1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38404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 i="0">
                <a:solidFill>
                  <a:srgbClr val="11B5A4"/>
                </a:solidFill>
                <a:latin typeface="Aptos"/>
              </a:rPr>
              <a:t>APPENDIX | FULL SOURCE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110996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500" b="1" i="0">
                <a:solidFill>
                  <a:srgbClr val="10243A"/>
                </a:solidFill>
                <a:latin typeface="Aptos"/>
              </a:rPr>
              <a:t>Source: throughput_benchmark.py  •  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15568"/>
            <a:ext cx="109728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637487"/>
                </a:solidFill>
                <a:latin typeface="Aptos"/>
              </a:rPr>
              <a:t>Host benchmark: fixed bursts, sequence validation and metrics.  |  source lines 1–22 of 162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492240"/>
            <a:ext cx="11183112" cy="0"/>
          </a:xfrm>
          <a:prstGeom prst="line">
            <a:avLst/>
          </a:prstGeom>
          <a:ln w="10160">
            <a:solidFill>
              <a:srgbClr val="D8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547104"/>
            <a:ext cx="69494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637487"/>
                </a:solidFill>
                <a:latin typeface="Aptos"/>
              </a:rPr>
              <a:t>PYNQ-Z2  |  PS UDP performance study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3968" y="6528816"/>
            <a:ext cx="4572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637487"/>
                </a:solidFill>
                <a:latin typeface="Aptos"/>
              </a:rPr>
              <a:t>37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" y="1645920"/>
            <a:ext cx="10991088" cy="4663440"/>
          </a:xfrm>
          <a:prstGeom prst="roundRect">
            <a:avLst>
              <a:gd name="adj" fmla="val 10000"/>
            </a:avLst>
          </a:prstGeom>
          <a:solidFill>
            <a:srgbClr val="10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737360"/>
            <a:ext cx="10716768" cy="4480560"/>
          </a:xfrm>
          <a:prstGeom prst="rect">
            <a:avLst/>
          </a:prstGeom>
          <a:noFill/>
        </p:spPr>
        <p:txBody>
          <a:bodyPr wrap="none" lIns="36576" rIns="36576" tIns="36576" bIns="18288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#!/usr/bin/env python3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"""Run a repeatable UDP echo load test and optionally append JSON Lines results."""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import argparse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import json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import math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import select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import socket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import statistics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import time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def percentile(values, fraction):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if not values: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return None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ordered = sorted(values)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index = min(len(ordered) - 1, math.ceil(fraction * len(ordered)) - 1)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return ordered[max(index, 0)]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def main():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parser = argparse.ArgumentParser(description=__doc__)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1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38404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 i="0">
                <a:solidFill>
                  <a:srgbClr val="11B5A4"/>
                </a:solidFill>
                <a:latin typeface="Aptos"/>
              </a:rPr>
              <a:t>APPENDIX | FULL SOURCE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110996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500" b="1" i="0">
                <a:solidFill>
                  <a:srgbClr val="10243A"/>
                </a:solidFill>
                <a:latin typeface="Aptos"/>
              </a:rPr>
              <a:t>Source: throughput_benchmark.py  •  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15568"/>
            <a:ext cx="109728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637487"/>
                </a:solidFill>
                <a:latin typeface="Aptos"/>
              </a:rPr>
              <a:t>Host benchmark: fixed bursts, sequence validation and metrics.  |  source lines 23–44 of 162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492240"/>
            <a:ext cx="11183112" cy="0"/>
          </a:xfrm>
          <a:prstGeom prst="line">
            <a:avLst/>
          </a:prstGeom>
          <a:ln w="10160">
            <a:solidFill>
              <a:srgbClr val="D8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547104"/>
            <a:ext cx="69494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637487"/>
                </a:solidFill>
                <a:latin typeface="Aptos"/>
              </a:rPr>
              <a:t>PYNQ-Z2  |  PS UDP performance study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3968" y="6528816"/>
            <a:ext cx="4572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637487"/>
                </a:solidFill>
                <a:latin typeface="Aptos"/>
              </a:rPr>
              <a:t>38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" y="1645920"/>
            <a:ext cx="10991088" cy="4663440"/>
          </a:xfrm>
          <a:prstGeom prst="roundRect">
            <a:avLst>
              <a:gd name="adj" fmla="val 10000"/>
            </a:avLst>
          </a:prstGeom>
          <a:solidFill>
            <a:srgbClr val="10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737360"/>
            <a:ext cx="10716768" cy="4480560"/>
          </a:xfrm>
          <a:prstGeom prst="rect">
            <a:avLst/>
          </a:prstGeom>
          <a:noFill/>
        </p:spPr>
        <p:txBody>
          <a:bodyPr wrap="none" lIns="36576" rIns="36576" tIns="36576" bIns="18288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parser.add_argument("--host", required=True, help="PYNQ-Z2 IP address")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parser.add_argument("--port", type=int, default=5001)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parser.add_argument("--seconds", type=float, default=5.0)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parser.add_argument("--length", type=int, default=1472)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parser.add_argument("--burst-size", type=int, default=32)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parser.add_argument("--drain-seconds", type=float, default=1.0)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parser.add_argument("--socket-buffer", type=int, default=4 * 1024 * 1024)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parser.add_argument("--variant", required=True, choices=("python", "c"))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parser.add_argument("--output", help="append one JSON result to this JSONL file")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args = parser.parse_args()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if not 8 &lt;= args.length &lt;= 1472: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parser.error("length must be between 8 and 1472 bytes for sequence tracking")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if not 1 &lt;= args.burst_size &lt;= 32: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parser.error("burst-size must be between 1 and 32")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if args.seconds &lt;= 0 or args.drain_seconds &lt; 0: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parser.error("seconds must be positive and drain-seconds cannot be negative")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if args.socket_buffer &lt;= 0: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parser.error("socket-buffer must be positive")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if not 1 &lt;= args.port &lt;= 65535: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parser.error("port must be between 1 and 65535")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sequence_times = {}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1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38404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 i="0">
                <a:solidFill>
                  <a:srgbClr val="11B5A4"/>
                </a:solidFill>
                <a:latin typeface="Aptos"/>
              </a:rPr>
              <a:t>APPENDIX | FULL SOURCE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110996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500" b="1" i="0">
                <a:solidFill>
                  <a:srgbClr val="10243A"/>
                </a:solidFill>
                <a:latin typeface="Aptos"/>
              </a:rPr>
              <a:t>Source: throughput_benchmark.py  •  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15568"/>
            <a:ext cx="109728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637487"/>
                </a:solidFill>
                <a:latin typeface="Aptos"/>
              </a:rPr>
              <a:t>Host benchmark: fixed bursts, sequence validation and metrics.  |  source lines 45–66 of 162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492240"/>
            <a:ext cx="11183112" cy="0"/>
          </a:xfrm>
          <a:prstGeom prst="line">
            <a:avLst/>
          </a:prstGeom>
          <a:ln w="10160">
            <a:solidFill>
              <a:srgbClr val="D8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547104"/>
            <a:ext cx="69494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637487"/>
                </a:solidFill>
                <a:latin typeface="Aptos"/>
              </a:rPr>
              <a:t>PYNQ-Z2  |  PS UDP performance study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3968" y="6528816"/>
            <a:ext cx="4572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637487"/>
                </a:solidFill>
                <a:latin typeface="Aptos"/>
              </a:rPr>
              <a:t>39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" y="1645920"/>
            <a:ext cx="10991088" cy="4663440"/>
          </a:xfrm>
          <a:prstGeom prst="roundRect">
            <a:avLst>
              <a:gd name="adj" fmla="val 10000"/>
            </a:avLst>
          </a:prstGeom>
          <a:solidFill>
            <a:srgbClr val="10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737360"/>
            <a:ext cx="10716768" cy="4480560"/>
          </a:xfrm>
          <a:prstGeom prst="rect">
            <a:avLst/>
          </a:prstGeom>
          <a:noFill/>
        </p:spPr>
        <p:txBody>
          <a:bodyPr wrap="none" lIns="36576" rIns="36576" tIns="36576" bIns="18288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seen_sequences = set()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latencies_ms = []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sent = 0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unique_replies = 0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duplicates = 0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corrupt = 0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unknown = 0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reply_bytes_received = 0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send_buffer_actual = 0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receive_buffer_actual = 0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payload_tail = bytes(index &amp; 0xFF for index in range(args.length - 8))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started = time.monotonic()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deadline = started + args.seconds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def record_reply(data):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nonlocal unique_replies, duplicates, corrupt, unknown, reply_bytes_received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reply_bytes_received += len(data)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if len(data) != args.length: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corrupt += 1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return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sequence = int.from_bytes(data[:8], "big")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sent_at = sequence_times.get(sequence)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1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38404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 i="0">
                <a:solidFill>
                  <a:srgbClr val="11B5A4"/>
                </a:solidFill>
                <a:latin typeface="Aptos"/>
              </a:rPr>
              <a:t>APPENDIX | FULL SOURCE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110996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500" b="1" i="0">
                <a:solidFill>
                  <a:srgbClr val="10243A"/>
                </a:solidFill>
                <a:latin typeface="Aptos"/>
              </a:rPr>
              <a:t>Source: throughput_benchmark.py  •  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15568"/>
            <a:ext cx="109728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637487"/>
                </a:solidFill>
                <a:latin typeface="Aptos"/>
              </a:rPr>
              <a:t>Host benchmark: fixed bursts, sequence validation and metrics.  |  source lines 67–88 of 162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492240"/>
            <a:ext cx="11183112" cy="0"/>
          </a:xfrm>
          <a:prstGeom prst="line">
            <a:avLst/>
          </a:prstGeom>
          <a:ln w="10160">
            <a:solidFill>
              <a:srgbClr val="D8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547104"/>
            <a:ext cx="69494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637487"/>
                </a:solidFill>
                <a:latin typeface="Aptos"/>
              </a:rPr>
              <a:t>PYNQ-Z2  |  PS UDP performance study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3968" y="6528816"/>
            <a:ext cx="4572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637487"/>
                </a:solidFill>
                <a:latin typeface="Aptos"/>
              </a:rPr>
              <a:t>40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" y="1645920"/>
            <a:ext cx="10991088" cy="4663440"/>
          </a:xfrm>
          <a:prstGeom prst="roundRect">
            <a:avLst>
              <a:gd name="adj" fmla="val 10000"/>
            </a:avLst>
          </a:prstGeom>
          <a:solidFill>
            <a:srgbClr val="10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737360"/>
            <a:ext cx="10716768" cy="4480560"/>
          </a:xfrm>
          <a:prstGeom prst="rect">
            <a:avLst/>
          </a:prstGeom>
          <a:noFill/>
        </p:spPr>
        <p:txBody>
          <a:bodyPr wrap="none" lIns="36576" rIns="36576" tIns="36576" bIns="18288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if sent_at is None: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unknown += 1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return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if data[8:] != payload_tail: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corrupt += 1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return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if sequence in seen_sequences: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duplicates += 1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return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seen_sequences.add(sequence)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unique_replies += 1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latencies_ms.append((time.monotonic() - sent_at) * 1000.0)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with socket.socket(socket.AF_INET, socket.SOCK_DGRAM) as sock: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sock.setsockopt(socket.SOL_SOCKET, socket.SO_SNDBUF, args.socket_buffer)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sock.setsockopt(socket.SOL_SOCKET, socket.SO_RCVBUF, args.socket_buffer)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send_buffer_actual = sock.getsockopt(socket.SOL_SOCKET, socket.SO_SNDBUF)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receive_buffer_actual = sock.getsockopt(socket.SOL_SOCKET, socket.SO_RCVBUF)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sock.connect((args.host, args.port))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sock.setblocking(False)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while time.monotonic() &lt; deadline: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1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38404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 i="0">
                <a:solidFill>
                  <a:srgbClr val="11B5A4"/>
                </a:solidFill>
                <a:latin typeface="Aptos"/>
              </a:rPr>
              <a:t>APPENDIX | FULL SOURCE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110996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500" b="1" i="0">
                <a:solidFill>
                  <a:srgbClr val="10243A"/>
                </a:solidFill>
                <a:latin typeface="Aptos"/>
              </a:rPr>
              <a:t>Source: throughput_benchmark.py  •  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15568"/>
            <a:ext cx="109728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637487"/>
                </a:solidFill>
                <a:latin typeface="Aptos"/>
              </a:rPr>
              <a:t>Host benchmark: fixed bursts, sequence validation and metrics.  |  source lines 89–110 of 162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492240"/>
            <a:ext cx="11183112" cy="0"/>
          </a:xfrm>
          <a:prstGeom prst="line">
            <a:avLst/>
          </a:prstGeom>
          <a:ln w="10160">
            <a:solidFill>
              <a:srgbClr val="D8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547104"/>
            <a:ext cx="69494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637487"/>
                </a:solidFill>
                <a:latin typeface="Aptos"/>
              </a:rPr>
              <a:t>PYNQ-Z2  |  PS UDP performance study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3968" y="6528816"/>
            <a:ext cx="4572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637487"/>
                </a:solidFill>
                <a:latin typeface="Aptos"/>
              </a:rPr>
              <a:t>41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" y="1645920"/>
            <a:ext cx="10991088" cy="4663440"/>
          </a:xfrm>
          <a:prstGeom prst="roundRect">
            <a:avLst>
              <a:gd name="adj" fmla="val 10000"/>
            </a:avLst>
          </a:prstGeom>
          <a:solidFill>
            <a:srgbClr val="10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737360"/>
            <a:ext cx="10716768" cy="4480560"/>
          </a:xfrm>
          <a:prstGeom prst="rect">
            <a:avLst/>
          </a:prstGeom>
          <a:noFill/>
        </p:spPr>
        <p:txBody>
          <a:bodyPr wrap="none" lIns="36576" rIns="36576" tIns="36576" bIns="18288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for _ in range(args.burst_size):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if time.monotonic() &gt;= deadline: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    break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sequence = sent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packet = sequence.to_bytes(8, "big") + payload_tail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try: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    sock.send(packet)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    sequence_times[sequence] = time.monotonic()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    sent += 1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except (BlockingIOError, InterruptedError):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    break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while True: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readable, _, _ = select.select([sock], [], [], 0)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if not readable: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    break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try: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    data = sock.recv(2048)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except (BlockingIOError, InterruptedError):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    break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record_reply(data)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drain_deadline = time.monotonic() + args.drain_seconds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1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38404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 i="0">
                <a:solidFill>
                  <a:srgbClr val="11B5A4"/>
                </a:solidFill>
                <a:latin typeface="Aptos"/>
              </a:rPr>
              <a:t>APPENDIX | FULL SOURCE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110996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500" b="1" i="0">
                <a:solidFill>
                  <a:srgbClr val="10243A"/>
                </a:solidFill>
                <a:latin typeface="Aptos"/>
              </a:rPr>
              <a:t>Source: throughput_benchmark.py  •  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15568"/>
            <a:ext cx="109728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637487"/>
                </a:solidFill>
                <a:latin typeface="Aptos"/>
              </a:rPr>
              <a:t>Host benchmark: fixed bursts, sequence validation and metrics.  |  source lines 111–132 of 162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492240"/>
            <a:ext cx="11183112" cy="0"/>
          </a:xfrm>
          <a:prstGeom prst="line">
            <a:avLst/>
          </a:prstGeom>
          <a:ln w="10160">
            <a:solidFill>
              <a:srgbClr val="D8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547104"/>
            <a:ext cx="69494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637487"/>
                </a:solidFill>
                <a:latin typeface="Aptos"/>
              </a:rPr>
              <a:t>PYNQ-Z2  |  PS UDP performance study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3968" y="6528816"/>
            <a:ext cx="4572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637487"/>
                </a:solidFill>
                <a:latin typeface="Aptos"/>
              </a:rPr>
              <a:t>42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" y="1645920"/>
            <a:ext cx="10991088" cy="4663440"/>
          </a:xfrm>
          <a:prstGeom prst="roundRect">
            <a:avLst>
              <a:gd name="adj" fmla="val 10000"/>
            </a:avLst>
          </a:prstGeom>
          <a:solidFill>
            <a:srgbClr val="10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737360"/>
            <a:ext cx="10716768" cy="4480560"/>
          </a:xfrm>
          <a:prstGeom prst="rect">
            <a:avLst/>
          </a:prstGeom>
          <a:noFill/>
        </p:spPr>
        <p:txBody>
          <a:bodyPr wrap="none" lIns="36576" rIns="36576" tIns="36576" bIns="18288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while time.monotonic() &lt; drain_deadline: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remaining = drain_deadline - time.monotonic()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readable, _, _ = select.select([sock], [], [], remaining)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if not readable: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break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try: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data = sock.recv(2048)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except (BlockingIOError, InterruptedError):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continue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record_reply(data)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elapsed = time.monotonic() - started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lost = max(0, sent - unique_replies)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result = {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"variant": args.variant,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"host": args.host,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"port": args.port,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"payload_bytes": args.length,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"burst_size": args.burst_size,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"test_seconds": args.seconds,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"drain_seconds": args.drain_seconds,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1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38404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 i="0">
                <a:solidFill>
                  <a:srgbClr val="11B5A4"/>
                </a:solidFill>
                <a:latin typeface="Aptos"/>
              </a:rPr>
              <a:t>APPENDIX | FULL SOURCE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110996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500" b="1" i="0">
                <a:solidFill>
                  <a:srgbClr val="10243A"/>
                </a:solidFill>
                <a:latin typeface="Aptos"/>
              </a:rPr>
              <a:t>Source: throughput_benchmark.py  •  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15568"/>
            <a:ext cx="109728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637487"/>
                </a:solidFill>
                <a:latin typeface="Aptos"/>
              </a:rPr>
              <a:t>Host benchmark: fixed bursts, sequence validation and metrics.  |  source lines 133–154 of 162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492240"/>
            <a:ext cx="11183112" cy="0"/>
          </a:xfrm>
          <a:prstGeom prst="line">
            <a:avLst/>
          </a:prstGeom>
          <a:ln w="10160">
            <a:solidFill>
              <a:srgbClr val="D8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547104"/>
            <a:ext cx="69494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637487"/>
                </a:solidFill>
                <a:latin typeface="Aptos"/>
              </a:rPr>
              <a:t>PYNQ-Z2  |  PS UDP performance study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3968" y="6528816"/>
            <a:ext cx="4572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637487"/>
                </a:solidFill>
                <a:latin typeface="Aptos"/>
              </a:rPr>
              <a:t>43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" y="1645920"/>
            <a:ext cx="10991088" cy="4663440"/>
          </a:xfrm>
          <a:prstGeom prst="roundRect">
            <a:avLst>
              <a:gd name="adj" fmla="val 10000"/>
            </a:avLst>
          </a:prstGeom>
          <a:solidFill>
            <a:srgbClr val="10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737360"/>
            <a:ext cx="10716768" cy="4480560"/>
          </a:xfrm>
          <a:prstGeom prst="rect">
            <a:avLst/>
          </a:prstGeom>
          <a:noFill/>
        </p:spPr>
        <p:txBody>
          <a:bodyPr wrap="none" lIns="36576" rIns="36576" tIns="36576" bIns="18288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"socket_buffer_requested_bytes": args.socket_buffer,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"socket_send_buffer_actual_bytes": send_buffer_actual,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"socket_receive_buffer_actual_bytes": receive_buffer_actual,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"wall_elapsed_seconds_including_drain": elapsed,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"measurement_seconds": args.seconds,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"sent_packets": sent,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"unique_replies": unique_replies,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"lost_packets": lost,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"loss_percent": (100.0 * lost / sent) if sent else 0.0,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"duplicate_replies": duplicates,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"corrupt_replies": corrupt,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"unknown_replies": unknown,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"echo_bytes_received": reply_bytes_received,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"goodput_mbps": unique_replies * args.length * 8.0 /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        args.seconds / 1_000_000.0,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"reply_packets_per_second": unique_replies / args.seconds,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"latency_mean_ms": statistics.mean(latencies_ms) if latencies_ms else None,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"latency_p50_ms": percentile(latencies_ms, 0.50),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"latency_p95_ms": percentile(latencies_ms, 0.95),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}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print(json.dumps(result, indent=2, sort_keys=True))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1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38404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 i="0">
                <a:solidFill>
                  <a:srgbClr val="11B5A4"/>
                </a:solidFill>
                <a:latin typeface="Aptos"/>
              </a:rPr>
              <a:t>APPENDIX | FULL SOURCE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110996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500" b="1" i="0">
                <a:solidFill>
                  <a:srgbClr val="10243A"/>
                </a:solidFill>
                <a:latin typeface="Aptos"/>
              </a:rPr>
              <a:t>Source: throughput_benchmark.py  •  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15568"/>
            <a:ext cx="109728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637487"/>
                </a:solidFill>
                <a:latin typeface="Aptos"/>
              </a:rPr>
              <a:t>Host benchmark: fixed bursts, sequence validation and metrics.  |  source lines 155–162 of 162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492240"/>
            <a:ext cx="11183112" cy="0"/>
          </a:xfrm>
          <a:prstGeom prst="line">
            <a:avLst/>
          </a:prstGeom>
          <a:ln w="10160">
            <a:solidFill>
              <a:srgbClr val="D8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547104"/>
            <a:ext cx="69494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637487"/>
                </a:solidFill>
                <a:latin typeface="Aptos"/>
              </a:rPr>
              <a:t>PYNQ-Z2  |  PS UDP performance study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3968" y="6528816"/>
            <a:ext cx="4572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637487"/>
                </a:solidFill>
                <a:latin typeface="Aptos"/>
              </a:rPr>
              <a:t>44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" y="1645920"/>
            <a:ext cx="10991088" cy="4663440"/>
          </a:xfrm>
          <a:prstGeom prst="roundRect">
            <a:avLst>
              <a:gd name="adj" fmla="val 10000"/>
            </a:avLst>
          </a:prstGeom>
          <a:solidFill>
            <a:srgbClr val="10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737360"/>
            <a:ext cx="10716768" cy="4480560"/>
          </a:xfrm>
          <a:prstGeom prst="rect">
            <a:avLst/>
          </a:prstGeom>
          <a:noFill/>
        </p:spPr>
        <p:txBody>
          <a:bodyPr wrap="none" lIns="36576" rIns="36576" tIns="36576" bIns="18288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if args.output: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with open(args.output, "a", encoding="utf-8") as output: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output.write(json.dumps(result, sort_keys=True) + "\n")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if __name__ == "__main__":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main()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1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38404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 i="0">
                <a:solidFill>
                  <a:srgbClr val="11B5A4"/>
                </a:solidFill>
                <a:latin typeface="Aptos"/>
              </a:rPr>
              <a:t>APPENDIX | FULL SOURCE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110996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500" b="1" i="0">
                <a:solidFill>
                  <a:srgbClr val="10243A"/>
                </a:solidFill>
                <a:latin typeface="Aptos"/>
              </a:rPr>
              <a:t>Source: udp_loopback_test.py  •  1/3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15568"/>
            <a:ext cx="109728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637487"/>
                </a:solidFill>
                <a:latin typeface="Aptos"/>
              </a:rPr>
              <a:t>Host functional test: exact payload echo verification.  |  source lines 1–22 of 51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492240"/>
            <a:ext cx="11183112" cy="0"/>
          </a:xfrm>
          <a:prstGeom prst="line">
            <a:avLst/>
          </a:prstGeom>
          <a:ln w="10160">
            <a:solidFill>
              <a:srgbClr val="D8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547104"/>
            <a:ext cx="69494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637487"/>
                </a:solidFill>
                <a:latin typeface="Aptos"/>
              </a:rPr>
              <a:t>PYNQ-Z2  |  PS UDP performance study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3968" y="6528816"/>
            <a:ext cx="4572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637487"/>
                </a:solidFill>
                <a:latin typeface="Aptos"/>
              </a:rPr>
              <a:t>45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" y="1645920"/>
            <a:ext cx="10991088" cy="4663440"/>
          </a:xfrm>
          <a:prstGeom prst="roundRect">
            <a:avLst>
              <a:gd name="adj" fmla="val 10000"/>
            </a:avLst>
          </a:prstGeom>
          <a:solidFill>
            <a:srgbClr val="10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737360"/>
            <a:ext cx="10716768" cy="4480560"/>
          </a:xfrm>
          <a:prstGeom prst="rect">
            <a:avLst/>
          </a:prstGeom>
          <a:noFill/>
        </p:spPr>
        <p:txBody>
          <a:bodyPr wrap="none" lIns="36576" rIns="36576" tIns="36576" bIns="18288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#!/usr/bin/env python3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"""Send UDP payloads to the PYNQ-Z2 PS echo service and verify byte integrity."""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import argparse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import socket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import time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def main():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parser = argparse.ArgumentParser(description=__doc__)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parser.add_argument("--host", required=True, help="PYNQ-Z2 IP address")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parser.add_argument("--port", type=int, default=5001)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parser.add_argument("--count", type=int, default=100)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parser.add_argument("--length", type=int, default=256)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parser.add_argument("--timeout", type=float, default=1.0)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args = parser.parse_args()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if args.count &lt;= 0: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parser.error("count must be greater than zero")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if not 1 &lt;= args.length &lt;= 1472: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parser.error("length must be between 1 and 1472 bytes")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received = 0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1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38404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 i="0">
                <a:solidFill>
                  <a:srgbClr val="11B5A4"/>
                </a:solidFill>
                <a:latin typeface="Aptos"/>
              </a:rPr>
              <a:t>APPENDIX | FULL SOURCE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110996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500" b="1" i="0">
                <a:solidFill>
                  <a:srgbClr val="10243A"/>
                </a:solidFill>
                <a:latin typeface="Aptos"/>
              </a:rPr>
              <a:t>Source: udp_loopback_test.py  •  2/3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15568"/>
            <a:ext cx="109728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637487"/>
                </a:solidFill>
                <a:latin typeface="Aptos"/>
              </a:rPr>
              <a:t>Host functional test: exact payload echo verification.  |  source lines 23–44 of 51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492240"/>
            <a:ext cx="11183112" cy="0"/>
          </a:xfrm>
          <a:prstGeom prst="line">
            <a:avLst/>
          </a:prstGeom>
          <a:ln w="10160">
            <a:solidFill>
              <a:srgbClr val="D8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547104"/>
            <a:ext cx="69494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637487"/>
                </a:solidFill>
                <a:latin typeface="Aptos"/>
              </a:rPr>
              <a:t>PYNQ-Z2  |  PS UDP performance study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3968" y="6528816"/>
            <a:ext cx="4572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637487"/>
                </a:solidFill>
                <a:latin typeface="Aptos"/>
              </a:rPr>
              <a:t>46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" y="1645920"/>
            <a:ext cx="10991088" cy="4663440"/>
          </a:xfrm>
          <a:prstGeom prst="roundRect">
            <a:avLst>
              <a:gd name="adj" fmla="val 10000"/>
            </a:avLst>
          </a:prstGeom>
          <a:solidFill>
            <a:srgbClr val="10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737360"/>
            <a:ext cx="10716768" cy="4480560"/>
          </a:xfrm>
          <a:prstGeom prst="rect">
            <a:avLst/>
          </a:prstGeom>
          <a:noFill/>
        </p:spPr>
        <p:txBody>
          <a:bodyPr wrap="none" lIns="36576" rIns="36576" tIns="36576" bIns="18288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started = time.monotonic()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with socket.socket(socket.AF_INET, socket.SOCK_DGRAM) as sock: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sock.settimeout(args.timeout)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sock.connect((args.host, args.port))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for sequence in range(args.count):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payload = bytes(((index + sequence) &amp; 0xFF)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            for index in range(args.length))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sock.send(payload)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try: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echo = sock.recv(2048)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except socket.timeout: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print("timeout: packet {} was not echoed".format(sequence))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continue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if echo != payload: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print("integrity failure: packet {}".format(sequence))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continue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received += 1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elapsed = time.monotonic() - started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print("verified {}/{} packets ({:.1f}%), elapsed {:.3f} s".format(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received, args.count, 100.0 * received / args.count if args.count else 0.0,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elapsed))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1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38404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 i="0">
                <a:solidFill>
                  <a:srgbClr val="11B5A4"/>
                </a:solidFill>
                <a:latin typeface="Aptos"/>
              </a:rPr>
              <a:t>APPENDIX | FULL SOURCE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110996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500" b="1" i="0">
                <a:solidFill>
                  <a:srgbClr val="10243A"/>
                </a:solidFill>
                <a:latin typeface="Aptos"/>
              </a:rPr>
              <a:t>Source: udp_loopback_test.py  •  3/3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15568"/>
            <a:ext cx="109728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637487"/>
                </a:solidFill>
                <a:latin typeface="Aptos"/>
              </a:rPr>
              <a:t>Host functional test: exact payload echo verification.  |  source lines 45–51 of 51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492240"/>
            <a:ext cx="11183112" cy="0"/>
          </a:xfrm>
          <a:prstGeom prst="line">
            <a:avLst/>
          </a:prstGeom>
          <a:ln w="10160">
            <a:solidFill>
              <a:srgbClr val="D8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547104"/>
            <a:ext cx="69494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637487"/>
                </a:solidFill>
                <a:latin typeface="Aptos"/>
              </a:rPr>
              <a:t>PYNQ-Z2  |  PS UDP performance study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3968" y="6528816"/>
            <a:ext cx="4572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637487"/>
                </a:solidFill>
                <a:latin typeface="Aptos"/>
              </a:rPr>
              <a:t>47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" y="1645920"/>
            <a:ext cx="10991088" cy="4663440"/>
          </a:xfrm>
          <a:prstGeom prst="roundRect">
            <a:avLst>
              <a:gd name="adj" fmla="val 10000"/>
            </a:avLst>
          </a:prstGeom>
          <a:solidFill>
            <a:srgbClr val="10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737360"/>
            <a:ext cx="10716768" cy="4480560"/>
          </a:xfrm>
          <a:prstGeom prst="rect">
            <a:avLst/>
          </a:prstGeom>
          <a:noFill/>
        </p:spPr>
        <p:txBody>
          <a:bodyPr wrap="none" lIns="36576" rIns="36576" tIns="36576" bIns="18288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if received != args.count: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raise SystemExit(1)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if __name__ == "__main__":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main()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1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38404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 i="0">
                <a:solidFill>
                  <a:srgbClr val="11B5A4"/>
                </a:solidFill>
                <a:latin typeface="Aptos"/>
              </a:rPr>
              <a:t>APPENDIX | FULL SOURCE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110996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500" b="1" i="0">
                <a:solidFill>
                  <a:srgbClr val="10243A"/>
                </a:solidFill>
                <a:latin typeface="Aptos"/>
              </a:rPr>
              <a:t>Source: compare_results.py  •  1/5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15568"/>
            <a:ext cx="109728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637487"/>
                </a:solidFill>
                <a:latin typeface="Aptos"/>
              </a:rPr>
              <a:t>Analysis tool: compare repeated-run medians.  |  source lines 1–22 of 92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492240"/>
            <a:ext cx="11183112" cy="0"/>
          </a:xfrm>
          <a:prstGeom prst="line">
            <a:avLst/>
          </a:prstGeom>
          <a:ln w="10160">
            <a:solidFill>
              <a:srgbClr val="D8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547104"/>
            <a:ext cx="69494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637487"/>
                </a:solidFill>
                <a:latin typeface="Aptos"/>
              </a:rPr>
              <a:t>PYNQ-Z2  |  PS UDP performance study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3968" y="6528816"/>
            <a:ext cx="4572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637487"/>
                </a:solidFill>
                <a:latin typeface="Aptos"/>
              </a:rPr>
              <a:t>48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" y="1645920"/>
            <a:ext cx="10991088" cy="4663440"/>
          </a:xfrm>
          <a:prstGeom prst="roundRect">
            <a:avLst>
              <a:gd name="adj" fmla="val 10000"/>
            </a:avLst>
          </a:prstGeom>
          <a:solidFill>
            <a:srgbClr val="10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737360"/>
            <a:ext cx="10716768" cy="4480560"/>
          </a:xfrm>
          <a:prstGeom prst="rect">
            <a:avLst/>
          </a:prstGeom>
          <a:noFill/>
        </p:spPr>
        <p:txBody>
          <a:bodyPr wrap="none" lIns="36576" rIns="36576" tIns="36576" bIns="18288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#!/usr/bin/env python3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"""Compare repeated JSONL UDP benchmark runs for Python and batched-C PS servers."""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import argparse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import json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import statistics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METRICS = (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("reply_packets_per_second", "Replies/s", True, False),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("goodput_mbps", "Goodput Mbps", True, False),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("loss_percent", "Loss %", False, True),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("latency_mean_ms", "Mean RTT ms", False, False),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("latency_p95_ms", "P95 RTT ms", False, False),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def load_runs(path, expected_variant):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runs = []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with open(path, encoding="utf-8") as source: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for line_number, line in enumerate(source, 1):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if not line.strip():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1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38404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 i="0">
                <a:solidFill>
                  <a:srgbClr val="11B5A4"/>
                </a:solidFill>
                <a:latin typeface="Aptos"/>
              </a:rPr>
              <a:t>APPENDIX | FULL SOURCE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110996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500" b="1" i="0">
                <a:solidFill>
                  <a:srgbClr val="10243A"/>
                </a:solidFill>
                <a:latin typeface="Aptos"/>
              </a:rPr>
              <a:t>Source: compare_results.py  •  2/5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15568"/>
            <a:ext cx="109728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637487"/>
                </a:solidFill>
                <a:latin typeface="Aptos"/>
              </a:rPr>
              <a:t>Analysis tool: compare repeated-run medians.  |  source lines 23–44 of 92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492240"/>
            <a:ext cx="11183112" cy="0"/>
          </a:xfrm>
          <a:prstGeom prst="line">
            <a:avLst/>
          </a:prstGeom>
          <a:ln w="10160">
            <a:solidFill>
              <a:srgbClr val="D8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547104"/>
            <a:ext cx="69494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637487"/>
                </a:solidFill>
                <a:latin typeface="Aptos"/>
              </a:rPr>
              <a:t>PYNQ-Z2  |  PS UDP performance study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3968" y="6528816"/>
            <a:ext cx="4572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637487"/>
                </a:solidFill>
                <a:latin typeface="Aptos"/>
              </a:rPr>
              <a:t>49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" y="1645920"/>
            <a:ext cx="10991088" cy="4663440"/>
          </a:xfrm>
          <a:prstGeom prst="roundRect">
            <a:avLst>
              <a:gd name="adj" fmla="val 10000"/>
            </a:avLst>
          </a:prstGeom>
          <a:solidFill>
            <a:srgbClr val="10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737360"/>
            <a:ext cx="10716768" cy="4480560"/>
          </a:xfrm>
          <a:prstGeom prst="rect">
            <a:avLst/>
          </a:prstGeom>
          <a:noFill/>
        </p:spPr>
        <p:txBody>
          <a:bodyPr wrap="none" lIns="36576" rIns="36576" tIns="36576" bIns="18288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continue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try: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result = json.loads(line)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except json.JSONDecodeError as error: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raise ValueError("{}:{}: {}".format(path, line_number, error))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if result.get("variant") != expected_variant: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raise ValueError("{} contains variant {!r}, expected {!r}".format(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    path, result.get("variant"), expected_variant))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runs.append(result)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if not runs: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raise ValueError("{} contains no benchmark results".format(path))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return runs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def median_metric(runs, name):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values = [run[name] for run in runs if run.get(name) is not None]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return statistics.median(values) if values else None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def format_value(value):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return "n/a" if value is None else "{:.3f}".format(value)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1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38404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 i="0">
                <a:solidFill>
                  <a:srgbClr val="11B5A4"/>
                </a:solidFill>
                <a:latin typeface="Aptos"/>
              </a:rPr>
              <a:t>APPENDIX | FULL SOURCE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110996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500" b="1" i="0">
                <a:solidFill>
                  <a:srgbClr val="10243A"/>
                </a:solidFill>
                <a:latin typeface="Aptos"/>
              </a:rPr>
              <a:t>Source: compare_results.py  •  3/5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15568"/>
            <a:ext cx="109728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637487"/>
                </a:solidFill>
                <a:latin typeface="Aptos"/>
              </a:rPr>
              <a:t>Analysis tool: compare repeated-run medians.  |  source lines 45–66 of 92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492240"/>
            <a:ext cx="11183112" cy="0"/>
          </a:xfrm>
          <a:prstGeom prst="line">
            <a:avLst/>
          </a:prstGeom>
          <a:ln w="10160">
            <a:solidFill>
              <a:srgbClr val="D8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547104"/>
            <a:ext cx="69494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637487"/>
                </a:solidFill>
                <a:latin typeface="Aptos"/>
              </a:rPr>
              <a:t>PYNQ-Z2  |  PS UDP performance study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3968" y="6528816"/>
            <a:ext cx="4572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637487"/>
                </a:solidFill>
                <a:latin typeface="Aptos"/>
              </a:rPr>
              <a:t>50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" y="1645920"/>
            <a:ext cx="10991088" cy="4663440"/>
          </a:xfrm>
          <a:prstGeom prst="roundRect">
            <a:avLst>
              <a:gd name="adj" fmla="val 10000"/>
            </a:avLst>
          </a:prstGeom>
          <a:solidFill>
            <a:srgbClr val="10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737360"/>
            <a:ext cx="10716768" cy="4480560"/>
          </a:xfrm>
          <a:prstGeom prst="rect">
            <a:avLst/>
          </a:prstGeom>
          <a:noFill/>
        </p:spPr>
        <p:txBody>
          <a:bodyPr wrap="none" lIns="36576" rIns="36576" tIns="36576" bIns="18288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def main():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parser = argparse.ArgumentParser(description=__doc__)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parser.add_argument("--python", required=True,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        help="JSONL file containing Python baseline runs")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parser.add_argument("--c", required=True,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        help="JSONL file containing batched C runs")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args = parser.parse_args()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try: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python_runs = load_runs(args.python, "python")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c_runs = load_runs(args.c, "c")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except (OSError, ValueError) as error: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parser.error(str(error))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common_settings = ("host", "port", "payload_bytes", "burst_size", "test_seconds",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       "drain_seconds", "socket_buffer_requested_bytes")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for key in common_settings: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if any(run.get(key) != python_runs[0].get(key)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for run in python_runs + c_runs):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parser.error("runs do not share the same {}".format(key))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1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38404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 i="0">
                <a:solidFill>
                  <a:srgbClr val="11B5A4"/>
                </a:solidFill>
                <a:latin typeface="Aptos"/>
              </a:rPr>
              <a:t>APPENDIX | FULL SOURCE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110996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500" b="1" i="0">
                <a:solidFill>
                  <a:srgbClr val="10243A"/>
                </a:solidFill>
                <a:latin typeface="Aptos"/>
              </a:rPr>
              <a:t>Source: compare_results.py  •  4/5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15568"/>
            <a:ext cx="109728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637487"/>
                </a:solidFill>
                <a:latin typeface="Aptos"/>
              </a:rPr>
              <a:t>Analysis tool: compare repeated-run medians.  |  source lines 67–88 of 92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492240"/>
            <a:ext cx="11183112" cy="0"/>
          </a:xfrm>
          <a:prstGeom prst="line">
            <a:avLst/>
          </a:prstGeom>
          <a:ln w="10160">
            <a:solidFill>
              <a:srgbClr val="D8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547104"/>
            <a:ext cx="69494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637487"/>
                </a:solidFill>
                <a:latin typeface="Aptos"/>
              </a:rPr>
              <a:t>PYNQ-Z2  |  PS UDP performance study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3968" y="6528816"/>
            <a:ext cx="4572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637487"/>
                </a:solidFill>
                <a:latin typeface="Aptos"/>
              </a:rPr>
              <a:t>51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" y="1645920"/>
            <a:ext cx="10991088" cy="4663440"/>
          </a:xfrm>
          <a:prstGeom prst="roundRect">
            <a:avLst>
              <a:gd name="adj" fmla="val 10000"/>
            </a:avLst>
          </a:prstGeom>
          <a:solidFill>
            <a:srgbClr val="10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737360"/>
            <a:ext cx="10716768" cy="4480560"/>
          </a:xfrm>
          <a:prstGeom prst="rect">
            <a:avLst/>
          </a:prstGeom>
          <a:noFill/>
        </p:spPr>
        <p:txBody>
          <a:bodyPr wrap="none" lIns="36576" rIns="36576" tIns="36576" bIns="18288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print("Median of {} Python runs and {} C runs".format(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len(python_runs), len(c_runs)))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print("{:&lt;18} {:&gt;14} {:&gt;14} {:&gt;14}".format(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"Metric", "Python", "Batched C", "Change"))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print("-" * 64)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for metric, label, higher_is_better, absolute_difference in METRICS: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baseline = median_metric(python_runs, metric)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improved = median_metric(c_runs, metric)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if baseline is None or improved is None: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change = "n/a"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elif absolute_difference: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change = "{:+.3f} pp".format(baseline - improved)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elif baseline == 0: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change = "n/a"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else: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percent = (improved - baseline) * 100.0 / abs(baseline)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if not higher_is_better: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    percent = -percent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change = "{:+.2f}%".format(percent)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print("{:&lt;18} {:&gt;14} {:&gt;14} {:&gt;14}".format(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        label, format_value(baseline), format_value(improved), change))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1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38404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 i="0">
                <a:solidFill>
                  <a:srgbClr val="11B5A4"/>
                </a:solidFill>
                <a:latin typeface="Aptos"/>
              </a:rPr>
              <a:t>APPENDIX | FULL SOURCE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5216"/>
            <a:ext cx="1110996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500" b="1" i="0">
                <a:solidFill>
                  <a:srgbClr val="10243A"/>
                </a:solidFill>
                <a:latin typeface="Aptos"/>
              </a:rPr>
              <a:t>Source: compare_results.py  •  5/5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15568"/>
            <a:ext cx="109728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637487"/>
                </a:solidFill>
                <a:latin typeface="Aptos"/>
              </a:rPr>
              <a:t>Analysis tool: compare repeated-run medians.  |  source lines 89–92 of 92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492240"/>
            <a:ext cx="11183112" cy="0"/>
          </a:xfrm>
          <a:prstGeom prst="line">
            <a:avLst/>
          </a:prstGeom>
          <a:ln w="10160">
            <a:solidFill>
              <a:srgbClr val="D8E2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547104"/>
            <a:ext cx="69494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637487"/>
                </a:solidFill>
                <a:latin typeface="Aptos"/>
              </a:rPr>
              <a:t>PYNQ-Z2  |  PS UDP performance study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3968" y="6528816"/>
            <a:ext cx="4572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637487"/>
                </a:solidFill>
                <a:latin typeface="Aptos"/>
              </a:rPr>
              <a:t>52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" y="1645920"/>
            <a:ext cx="10991088" cy="4663440"/>
          </a:xfrm>
          <a:prstGeom prst="roundRect">
            <a:avLst>
              <a:gd name="adj" fmla="val 10000"/>
            </a:avLst>
          </a:prstGeom>
          <a:solidFill>
            <a:srgbClr val="10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737360"/>
            <a:ext cx="10716768" cy="4480560"/>
          </a:xfrm>
          <a:prstGeom prst="rect">
            <a:avLst/>
          </a:prstGeom>
          <a:noFill/>
        </p:spPr>
        <p:txBody>
          <a:bodyPr wrap="none" lIns="36576" rIns="36576" tIns="36576" bIns="18288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if __name__ == "__main__":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   main()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E4EDF4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PS vs PS: UDP Server Performance on PYNQ-Z2</dc:title>
  <dc:subject>Literature survey, methodology, tools, components, and proof plan</dc:subject>
  <dc:creator>Project proposal</dc:creator>
  <cp:keywords>PYNQ-Z2, Zynq, UDP, Linux, recvmmsg, sendmmsg, benchmark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