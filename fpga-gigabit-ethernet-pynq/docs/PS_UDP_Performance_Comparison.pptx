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13648" y="128016"/>
            <a:ext cx="3575304" cy="6729984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786384"/>
            <a:ext cx="329184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80467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0243A"/>
                </a:solidFill>
                <a:latin typeface="Aptos"/>
              </a:rPr>
              <a:t>PROJECT PROPOSAL  •  MEASUREMENT-DRIVEN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44752"/>
            <a:ext cx="68580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PS vs 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74066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UDP server performance on the</a:t>
            </a:r>
          </a:p>
          <a:p>
            <a:pPr algn="l">
              <a:spcAft>
                <a:spcPts val="30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PYNQ-Z2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931920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8C8D2"/>
                </a:solidFill>
                <a:latin typeface="Aptos"/>
              </a:rPr>
              <a:t>Python per-packet baseline  vs  Linux C batched I/O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498848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9E5EE"/>
                </a:solidFill>
                <a:latin typeface="Aptos"/>
              </a:rPr>
              <a:t>Same ARM processor • same PS GEM • same Ethernet jack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5340096"/>
            <a:ext cx="7269480" cy="45720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5550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6D6E3"/>
                </a:solidFill>
                <a:latin typeface="Aptos"/>
              </a:rPr>
              <a:t>A fair, reproducible comparison—not a claimed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9992" y="1152144"/>
            <a:ext cx="2523744" cy="1143000"/>
          </a:xfrm>
          <a:prstGeom prst="roundRect">
            <a:avLst>
              <a:gd name="adj" fmla="val 10000"/>
            </a:avLst>
          </a:prstGeom>
          <a:solidFill>
            <a:srgbClr val="24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1362456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2B84B"/>
                </a:solidFill>
                <a:latin typeface="Apto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174650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recvfrom + sendto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578608"/>
            <a:ext cx="685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 i="0">
                <a:solidFill>
                  <a:srgbClr val="58C8D2"/>
                </a:solidFill>
                <a:latin typeface="Aptos"/>
              </a:rPr>
              <a:t>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3172968"/>
            <a:ext cx="2523744" cy="1143000"/>
          </a:xfrm>
          <a:prstGeom prst="roundRect">
            <a:avLst>
              <a:gd name="adj" fmla="val 10000"/>
            </a:avLst>
          </a:prstGeom>
          <a:solidFill>
            <a:srgbClr val="24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3383280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11B5A4"/>
                </a:solidFill>
                <a:latin typeface="Aptos"/>
              </a:rPr>
              <a:t>C BATCHED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376732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recvmmsg + sendmmsg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901184"/>
            <a:ext cx="2834640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D9E5EE"/>
                </a:solidFill>
                <a:latin typeface="Aptos"/>
              </a:rPr>
              <a:t>One board. One network path.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D9E5EE"/>
                </a:solidFill>
                <a:latin typeface="Aptos"/>
              </a:rPr>
              <a:t>Change only the server strategy.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6428232"/>
            <a:ext cx="6949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A9BDCC"/>
                </a:solidFill>
                <a:latin typeface="Aptos"/>
              </a:rPr>
              <a:t>PYNQ-Z2 | Zynq-7000 PS | Linux UDP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01  | 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Project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A practical PS-vs-PS experiment using the PYNQ-Z2 hardware you already have.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27632"/>
            <a:ext cx="3456432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27632"/>
            <a:ext cx="64008" cy="184708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73936"/>
            <a:ext cx="3127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THE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39696"/>
            <a:ext cx="3127248" cy="1225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37487"/>
                </a:solidFill>
                <a:latin typeface="Aptos"/>
              </a:rPr>
              <a:t>The built-in RTL8211E Ethernet jack connects to the Zynq PS GEM through MIO. Linux on the ARM runs the network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27632"/>
            <a:ext cx="3456432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627632"/>
            <a:ext cx="64008" cy="1847088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773936"/>
            <a:ext cx="3127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THE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39696"/>
            <a:ext cx="3127248" cy="1225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37487"/>
                </a:solidFill>
                <a:latin typeface="Aptos"/>
              </a:rPr>
              <a:t>Baseline: Python recvfrom/sendto per datagram. Candidate: C recvmmsg/sendmmsg, batching up to 32.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27632"/>
            <a:ext cx="3456432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627632"/>
            <a:ext cx="64008" cy="1847088"/>
          </a:xfrm>
          <a:prstGeom prst="rect">
            <a:avLst/>
          </a:prstGeom>
          <a:solidFill>
            <a:srgbClr val="5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773936"/>
            <a:ext cx="31272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THE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39696"/>
            <a:ext cx="3127248" cy="1225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37487"/>
                </a:solidFill>
                <a:latin typeface="Aptos"/>
              </a:rPr>
              <a:t>Does batched Linux socket I/O improve measured UDP echo performance on this board, and what happens to loss, latency, and CPU?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831336"/>
            <a:ext cx="10954512" cy="1280160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50791"/>
            <a:ext cx="19385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8C8D2"/>
                </a:solidFill>
                <a:latin typeface="Aptos"/>
              </a:rPr>
              <a:t>Important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986784"/>
            <a:ext cx="8293608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Both versions run on the PS. The PL is not carrying Ethernet traffic in this selected project.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458968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37487"/>
                </a:solidFill>
                <a:latin typeface="Aptos"/>
              </a:rPr>
              <a:t>This keeps the comparison testable on the onboard jack and avoids claiming unavailable PL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01  |  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Where the packets actually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The built-in connector is real hardware; only the server implementation changes.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176272"/>
            <a:ext cx="2103120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" y="2304288"/>
            <a:ext cx="475488" cy="274320"/>
          </a:xfrm>
          <a:prstGeom prst="roundRect">
            <a:avLst>
              <a:gd name="adj" fmla="val 10000"/>
            </a:avLst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2257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70048"/>
            <a:ext cx="182879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Host 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008376"/>
            <a:ext cx="18105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Python benchmark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creates UDP datagrams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2908" y="2834640"/>
            <a:ext cx="150876" cy="0"/>
          </a:xfrm>
          <a:prstGeom prst="line">
            <a:avLst/>
          </a:prstGeom>
          <a:ln w="21590">
            <a:solidFill>
              <a:srgbClr val="11B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71215" y="2176272"/>
            <a:ext cx="2103120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0" y="2304288"/>
            <a:ext cx="475488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39" y="232257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5" y="2670048"/>
            <a:ext cx="182879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Ethernet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008376"/>
            <a:ext cx="18105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RJ45 cable +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switch (if used)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88051" y="2834640"/>
            <a:ext cx="150876" cy="0"/>
          </a:xfrm>
          <a:prstGeom prst="line">
            <a:avLst/>
          </a:prstGeom>
          <a:ln w="21590">
            <a:solidFill>
              <a:srgbClr val="11B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66359" y="2176272"/>
            <a:ext cx="2103120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12664" y="2304288"/>
            <a:ext cx="475488" cy="274320"/>
          </a:xfrm>
          <a:prstGeom prst="roundRect">
            <a:avLst>
              <a:gd name="adj" fmla="val 10000"/>
            </a:avLst>
          </a:prstGeom>
          <a:solidFill>
            <a:srgbClr val="5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58383" y="232257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0243A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670048"/>
            <a:ext cx="182879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PHY + PS GEM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008376"/>
            <a:ext cx="18105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RTL8211E PHY →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PS Ethernet MAC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83195" y="2834640"/>
            <a:ext cx="150877" cy="0"/>
          </a:xfrm>
          <a:prstGeom prst="line">
            <a:avLst/>
          </a:prstGeom>
          <a:ln w="21590">
            <a:solidFill>
              <a:srgbClr val="11B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61504" y="2176272"/>
            <a:ext cx="2103120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07808" y="2304288"/>
            <a:ext cx="475488" cy="27432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53528" y="232257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2670048"/>
            <a:ext cx="182879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Linux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3008376"/>
            <a:ext cx="18105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Driver + IP/UDP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kernel stack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78340" y="2834640"/>
            <a:ext cx="150876" cy="0"/>
          </a:xfrm>
          <a:prstGeom prst="line">
            <a:avLst/>
          </a:prstGeom>
          <a:ln w="21590">
            <a:solidFill>
              <a:srgbClr val="11B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56648" y="2176272"/>
            <a:ext cx="2103120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02952" y="2304288"/>
            <a:ext cx="475488" cy="274320"/>
          </a:xfrm>
          <a:prstGeom prst="roundRect">
            <a:avLst>
              <a:gd name="adj" fmla="val 10000"/>
            </a:avLst>
          </a:prstGeom>
          <a:solidFill>
            <a:srgbClr val="47B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48672" y="232257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2670048"/>
            <a:ext cx="1828799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Server process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3008376"/>
            <a:ext cx="181051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Python baseline OR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C batched candidate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271" y="4023360"/>
            <a:ext cx="10094976" cy="1078992"/>
          </a:xfrm>
          <a:prstGeom prst="roundRect">
            <a:avLst>
              <a:gd name="adj" fmla="val 10000"/>
            </a:avLst>
          </a:prstGeom>
          <a:solidFill>
            <a:srgbClr val="E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592" y="4215384"/>
            <a:ext cx="20116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1B5A4"/>
                </a:solidFill>
                <a:latin typeface="Aptos"/>
              </a:rPr>
              <a:t>Controlled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4187952"/>
            <a:ext cx="741578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0243A"/>
                </a:solidFill>
                <a:latin typeface="Aptos"/>
              </a:rPr>
              <a:t>Same board • same PS GEM • same Linux kernel • same host test program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90872"/>
            <a:ext cx="9326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The Ethernet hardware and kernel stack are controls—not the experiment.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02  |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Technical 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The sources support the design choices; they do not predetermine the result on this board.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627632"/>
            <a:ext cx="2057400" cy="384048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82496"/>
            <a:ext cx="1892807" cy="2926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627632"/>
            <a:ext cx="4983480" cy="384048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682496"/>
            <a:ext cx="4818888" cy="2926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Established 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2" y="1627632"/>
            <a:ext cx="3886200" cy="384048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1682496"/>
            <a:ext cx="3721608" cy="2926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Design implication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011680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066544"/>
            <a:ext cx="1892807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Python socket docs [1]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2011680"/>
            <a:ext cx="49834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066544"/>
            <a:ext cx="481888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Python exposes the standard socket API for UDP; it is a usable high-level baseline.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2" y="2011680"/>
            <a:ext cx="38862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2066544"/>
            <a:ext cx="372160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Keep socket semantics and packet bytes the same.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2651760"/>
            <a:ext cx="205740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706624"/>
            <a:ext cx="1892807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Linux recvmmsg [2]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33472" y="2651760"/>
            <a:ext cx="498348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2706624"/>
            <a:ext cx="481888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One syscall can receive multiple messages; Linux documents potential application performance benefits.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6952" y="2651760"/>
            <a:ext cx="388620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2706624"/>
            <a:ext cx="372160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Candidate receive path batches queued datagrams.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3291840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346704"/>
            <a:ext cx="1892807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Linux sendmmsg [3]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33472" y="3291840"/>
            <a:ext cx="49834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3346704"/>
            <a:ext cx="481888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One syscall can submit multiple messages; partial sends must be handled.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16952" y="3291840"/>
            <a:ext cx="38862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3346704"/>
            <a:ext cx="372160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Candidate transmit path retries unsent tail of a batch.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" y="3931920"/>
            <a:ext cx="205740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1892807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Linux NAPI docs [4]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3472" y="3931920"/>
            <a:ext cx="498348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3986784"/>
            <a:ext cx="481888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NIC/kernel polling and interrupt moderation also affect batching and latency.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16952" y="3931920"/>
            <a:ext cx="388620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9248" y="3986784"/>
            <a:ext cx="372160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Keep kernel/link fixed; application batching is only one layer.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" y="4572000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626864"/>
            <a:ext cx="1892807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PYNQ docs [5]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33472" y="4572000"/>
            <a:ext cx="49834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15768" y="4626864"/>
            <a:ext cx="481888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PYNQ supports Python productivity and lower-level C when efficiency matters.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16952" y="4572000"/>
            <a:ext cx="38862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4626864"/>
            <a:ext cx="372160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Motivates an embedded Python-versus-C comparison.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" y="5212080"/>
            <a:ext cx="205740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266944"/>
            <a:ext cx="1892807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RFC 2544 [6]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33472" y="5212080"/>
            <a:ext cx="498348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5768" y="5266944"/>
            <a:ext cx="481888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Comparable performance reports require defined tests and conditions.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16952" y="5212080"/>
            <a:ext cx="3886200" cy="64008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99248" y="5266944"/>
            <a:ext cx="3721608" cy="5486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Fix packet sizes, duration, run order, repetitions, and report metrics.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025896"/>
            <a:ext cx="10698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1">
                <a:solidFill>
                  <a:srgbClr val="637487"/>
                </a:solidFill>
                <a:latin typeface="Aptos"/>
              </a:rPr>
              <a:t>Survey scope: official API / platform documentation + benchmarking guidance (not a claim of exhaustive academic review).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02  |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The project gap and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State the gap narrowly and defensibly: this is a target-board evaluation gap, not a claim that no one has studied batching.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5029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480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What documentation already gives 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96312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86584"/>
            <a:ext cx="4251959" cy="188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B3A"/>
                </a:solidFill>
                <a:latin typeface="Aptos"/>
              </a:rPr>
              <a:t>APIs for ordinary and batched UDP I/O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37688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27960"/>
            <a:ext cx="4251959" cy="188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B3A"/>
                </a:solidFill>
                <a:latin typeface="Aptos"/>
              </a:rPr>
              <a:t>A plausible mechanism: fewer per-message syscalls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7906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69336"/>
            <a:ext cx="4251959" cy="188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B3A"/>
                </a:solidFill>
                <a:latin typeface="Aptos"/>
              </a:rPr>
              <a:t>Warnings that kernel/NIC behavior also shapes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1719072"/>
            <a:ext cx="5431536" cy="1828800"/>
          </a:xfrm>
          <a:prstGeom prst="roundRect">
            <a:avLst>
              <a:gd name="adj" fmla="val 10000"/>
            </a:avLst>
          </a:prstGeom>
          <a:solidFill>
            <a:srgbClr val="FFF5E2"/>
          </a:solidFill>
          <a:ln w="10160">
            <a:solidFill>
              <a:srgbClr val="F0D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938528"/>
            <a:ext cx="4754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What this project must 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2496312"/>
            <a:ext cx="91440" cy="914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386584"/>
            <a:ext cx="4526280" cy="188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B3A"/>
                </a:solidFill>
                <a:latin typeface="Aptos"/>
              </a:rPr>
              <a:t>Effect on PYNQ-Z2 PS GEM + its installed Linux image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2837688"/>
            <a:ext cx="91440" cy="914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727960"/>
            <a:ext cx="4526280" cy="188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B3A"/>
                </a:solidFill>
                <a:latin typeface="Aptos"/>
              </a:rPr>
              <a:t>Throughput, loss, latency, and server CPU together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3179064"/>
            <a:ext cx="91440" cy="9144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069336"/>
            <a:ext cx="4526280" cy="188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B3A"/>
                </a:solidFill>
                <a:latin typeface="Aptos"/>
              </a:rPr>
              <a:t>Whether a batched candidate helps under the same offered 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31920"/>
            <a:ext cx="10826496" cy="1143000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42232"/>
            <a:ext cx="1874519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8C8D2"/>
                </a:solidFill>
                <a:latin typeface="Aptos"/>
              </a:rPr>
              <a:t>Research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4078224"/>
            <a:ext cx="819302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On the PYNQ-Z2, does C batched UDP I/O outperform the Python per-datagram baseline at equal packet sizes and offered load?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5358384"/>
            <a:ext cx="105156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637487"/>
                </a:solidFill>
                <a:latin typeface="Aptos"/>
              </a:rPr>
              <a:t>Gap defined by this project: no controlled PYNQ-Z2 measurements are recorded yet. The answer is open until board tests are run.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" y="581558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H0: batching does not improve median reply rate.  H1: it improves rate/goodput without increasing loss or corruption.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03  |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Proposed system and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The two implementations share one PS/Linux stack and one benchmark protocol.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10512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10512"/>
            <a:ext cx="64008" cy="1280160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56816"/>
            <a:ext cx="30998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PYNQ-Z2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22576"/>
            <a:ext cx="3099816" cy="6583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Zynq-7000 ARM Cortex-A9 runs Linux; onboard PHY + PS GEM carry packets.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10512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810512"/>
            <a:ext cx="64008" cy="128016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956816"/>
            <a:ext cx="30998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Python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322576"/>
            <a:ext cx="3099816" cy="6583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Blocking UDP socket; receive one datagram and echo it per loop iteration.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810512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810512"/>
            <a:ext cx="64008" cy="1280160"/>
          </a:xfrm>
          <a:prstGeom prst="rect">
            <a:avLst/>
          </a:prstGeom>
          <a:solidFill>
            <a:srgbClr val="47B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1956816"/>
            <a:ext cx="30998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C candidate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2322576"/>
            <a:ext cx="3099816" cy="6583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Linux recvmmsg/sendmmsg; reusable message arrays; up to 32 datagrams per batch.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364991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364991"/>
            <a:ext cx="64008" cy="1280160"/>
          </a:xfrm>
          <a:prstGeom prst="rect">
            <a:avLst/>
          </a:prstGeom>
          <a:solidFill>
            <a:srgbClr val="5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511296"/>
            <a:ext cx="30998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Host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877056"/>
            <a:ext cx="3099816" cy="6583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Sends sequenced payloads in fixed bursts; checks replies and timestamps RTT.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364991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364991"/>
            <a:ext cx="64008" cy="1280160"/>
          </a:xfrm>
          <a:prstGeom prst="rect">
            <a:avLst/>
          </a:prstGeom>
          <a:solidFill>
            <a:srgbClr val="F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511296"/>
            <a:ext cx="30998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Metrics +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877056"/>
            <a:ext cx="3099816" cy="6583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JSONL raw runs, median comparison, integrity/loss checks, server CPU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3364991"/>
            <a:ext cx="34290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0144" y="3364991"/>
            <a:ext cx="64008" cy="1280160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3511296"/>
            <a:ext cx="30998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Network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877056"/>
            <a:ext cx="3099816" cy="6583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Wired host-to-board path; same switch/cable, port, negotiated speed, and IP config.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2064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637487"/>
                </a:solidFill>
                <a:latin typeface="Aptos"/>
              </a:rPr>
              <a:t>No custom MAC/PHY RTL is required for the selected PS-based experiment.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03  |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Baseline and candidate: one controlled A/B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The only intentional independent variable is the server implementation.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719072"/>
            <a:ext cx="2971800" cy="32461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25146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CONTROLLED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25237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414016"/>
            <a:ext cx="2286000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Same host benchmark and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29809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871216"/>
            <a:ext cx="2286000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Same UDP packet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34381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3328416"/>
            <a:ext cx="2286000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Same payload length and 32-packet burst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" y="38953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785616"/>
            <a:ext cx="2286000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Same test duration and socket-buffer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" y="43525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242816"/>
            <a:ext cx="2286000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Same board, Linux, link, and network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1764792"/>
            <a:ext cx="3136392" cy="1060704"/>
          </a:xfrm>
          <a:prstGeom prst="roundRect">
            <a:avLst>
              <a:gd name="adj" fmla="val 10000"/>
            </a:avLst>
          </a:prstGeom>
          <a:solidFill>
            <a:srgbClr val="FFF5E2"/>
          </a:solidFill>
          <a:ln w="10160">
            <a:solidFill>
              <a:srgbClr val="F0D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1938528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A  •  Python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313432"/>
            <a:ext cx="2743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recvfrom → validate → sendto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502152"/>
            <a:ext cx="3136392" cy="1060704"/>
          </a:xfrm>
          <a:prstGeom prst="roundRect">
            <a:avLst>
              <a:gd name="adj" fmla="val 10000"/>
            </a:avLst>
          </a:prstGeom>
          <a:solidFill>
            <a:srgbClr val="E7F7F4"/>
          </a:solidFill>
          <a:ln w="10160">
            <a:solidFill>
              <a:srgbClr val="A6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367588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0243A"/>
                </a:solidFill>
                <a:latin typeface="Aptos"/>
              </a:rPr>
              <a:t>B  •  C batched candidate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050791"/>
            <a:ext cx="2743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recvmmsg → validate → sendmmsg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2704" y="2843784"/>
            <a:ext cx="0" cy="557784"/>
          </a:xfrm>
          <a:prstGeom prst="line">
            <a:avLst/>
          </a:prstGeom>
          <a:ln w="25400">
            <a:solidFill>
              <a:srgbClr val="11B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44383" y="1719072"/>
            <a:ext cx="3803904" cy="3246120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1938528"/>
            <a:ext cx="32004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8C8D2"/>
                </a:solidFill>
                <a:latin typeface="Aptos"/>
              </a:rPr>
              <a:t>COMPARE OUTPUTS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25237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9" y="2414016"/>
            <a:ext cx="2953512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Valid unique replies per second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29809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59" y="2871216"/>
            <a:ext cx="2953512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UDP payload goodput (Mbps)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34381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9" y="3328416"/>
            <a:ext cx="2953512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Loss / corrupt / duplicate replies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38953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59" y="3785616"/>
            <a:ext cx="2953512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Mean, p50 and p95 RTT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435254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59" y="4242816"/>
            <a:ext cx="2953512" cy="243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Board process CPU time / CPU 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266944"/>
            <a:ext cx="10332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637487"/>
                </a:solidFill>
                <a:latin typeface="Aptos"/>
              </a:rPr>
              <a:t>One server at a time; alternate run order to reduce warm-up / drift bias.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03  |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What changes in the 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The experiment targets application-to-kernel call frequency, not the Ethernet PHY or IP stack.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82496"/>
            <a:ext cx="5321808" cy="3145536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856232"/>
            <a:ext cx="1874519" cy="27432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74520"/>
            <a:ext cx="178307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0243A"/>
                </a:solidFill>
                <a:latin typeface="Aptos"/>
              </a:rPr>
              <a:t>BASELINE  | 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40864"/>
            <a:ext cx="4709160" cy="1773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DCE8F0"/>
                </a:solidFill>
                <a:latin typeface="Consolas"/>
              </a:rPr>
              <a:t>while running: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DCE8F0"/>
                </a:solidFill>
                <a:latin typeface="Consolas"/>
              </a:rPr>
              <a:t>    payload, peer = sock.recvfrom(1473)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DCE8F0"/>
                </a:solidFill>
                <a:latin typeface="Consolas"/>
              </a:rPr>
              <a:t>    if len(payload) &lt;= 1472: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DCE8F0"/>
                </a:solidFill>
                <a:latin typeface="Consolas"/>
              </a:rPr>
              <a:t>        sock.sendto(payload, peer)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46817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B84B"/>
                </a:solidFill>
                <a:latin typeface="Aptos"/>
              </a:rPr>
              <a:t>One receive + one send call per datagram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682496"/>
            <a:ext cx="5321808" cy="3145536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856232"/>
            <a:ext cx="210312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874520"/>
            <a:ext cx="201167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0243A"/>
                </a:solidFill>
                <a:latin typeface="Aptos"/>
              </a:rPr>
              <a:t>CANDIDATE  |  LINUX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313432"/>
            <a:ext cx="4663440" cy="1874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DCE8F0"/>
                </a:solidFill>
                <a:latin typeface="Consolas"/>
              </a:rPr>
              <a:t>n = recvmmsg(fd, rx, 32, MSG_WAITFORONE, NULL)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DCE8F0"/>
                </a:solidFill>
                <a:latin typeface="Consolas"/>
              </a:rPr>
              <a:t>validate each received datagram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DCE8F0"/>
                </a:solidFill>
                <a:latin typeface="Consolas"/>
              </a:rPr>
              <a:t>sent = 0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DCE8F0"/>
                </a:solidFill>
                <a:latin typeface="Consolas"/>
              </a:rPr>
              <a:t>while sent &lt; valid_count: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DCE8F0"/>
                </a:solidFill>
                <a:latin typeface="Consolas"/>
              </a:rPr>
              <a:t>    sent += sendmmsg(fd, &amp;tx[sent],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DCE8F0"/>
                </a:solidFill>
                <a:latin typeface="Consolas"/>
              </a:rPr>
              <a:t>                     valid_count - sent,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306824"/>
            <a:ext cx="46817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1B5A4"/>
                </a:solidFill>
                <a:latin typeface="Aptos"/>
              </a:rPr>
              <a:t>Up to 32 queued messages per syscall; handle partial sends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29784"/>
            <a:ext cx="10561320" cy="694944"/>
          </a:xfrm>
          <a:prstGeom prst="roundRect">
            <a:avLst>
              <a:gd name="adj" fmla="val 10000"/>
            </a:avLst>
          </a:prstGeom>
          <a:solidFill>
            <a:srgbClr val="FF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303520"/>
            <a:ext cx="10131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Hypothesis: fewer per-datagram user/kernel transitions can reduce CPU cost and raise packet rate when the server is the bottleneck.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04  | 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Methodology: make the comparison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Pre-register the main metric and keep all other variables fixed.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737360"/>
            <a:ext cx="349300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1911095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293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1920240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31720"/>
            <a:ext cx="307238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Record PYNQ image, kernel, CPU architecture, GCC, link speed/duplex, socket buffers.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1737360"/>
            <a:ext cx="349300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36008" y="1911095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9293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920240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2331720"/>
            <a:ext cx="307238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Run integrity tests against both servers; confirm exact echoes before load testing.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6" y="1737360"/>
            <a:ext cx="349300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0768" y="1911095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19293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1920240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Warm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331720"/>
            <a:ext cx="307238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Warm each server and path equally; do not mix warm-up packets into timed samples.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" y="3456432"/>
            <a:ext cx="349300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7" y="363016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64845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3639312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050791"/>
            <a:ext cx="307238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5+ paired runs per payload; alternate A/B order; save each JSON record.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71416" y="3456432"/>
            <a:ext cx="349300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36008" y="363016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64845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9784" y="3639312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Analyze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2584" y="4050791"/>
            <a:ext cx="307238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Compare medians and variation; examine packet loss, RTT, CPU, and errors.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6" y="3456432"/>
            <a:ext cx="3493008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30768" y="363016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6488" y="364845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3639312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4050791"/>
            <a:ext cx="307238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Keep raw logs, environment, commands, captures, plots, and limitations.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" y="5303520"/>
            <a:ext cx="10680192" cy="585216"/>
          </a:xfrm>
          <a:prstGeom prst="roundRect">
            <a:avLst>
              <a:gd name="adj" fmla="val 10000"/>
            </a:avLst>
          </a:prstGeom>
          <a:solidFill>
            <a:srgbClr val="E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458968"/>
            <a:ext cx="10195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Repeat for 64 B, 512 B and 1472 B payloads; same 32-packet host burst and 10 s offered-load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04  | 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What exactly will be measured?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Application-level metrics are not a substitute for PHY line-rate testing.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3383280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74519"/>
            <a:ext cx="3035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1B5A4"/>
                </a:solidFill>
                <a:latin typeface="Aptos"/>
              </a:rPr>
              <a:t>GOODPUT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176272"/>
            <a:ext cx="303580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Unique echoed payload bits / timed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60904"/>
            <a:ext cx="30358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Mbps = unique_replies × payload_bytes × 8 / seconds / 10⁶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37360"/>
            <a:ext cx="3383280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874519"/>
            <a:ext cx="3035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58C8D2"/>
                </a:solidFill>
                <a:latin typeface="Aptos"/>
              </a:rPr>
              <a:t>PACKET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176272"/>
            <a:ext cx="303580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Count only valid, unique echoes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660904"/>
            <a:ext cx="30358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replies/s = unique_replies / timed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1737360"/>
            <a:ext cx="3383280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7" y="1874519"/>
            <a:ext cx="3035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0786B"/>
                </a:solidFill>
                <a:latin typeface="Aptos"/>
              </a:rPr>
              <a:t>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2176272"/>
            <a:ext cx="303580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Sent sequences with no valid echo after drain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2660904"/>
            <a:ext cx="30358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loss % = (sent − unique_replies) / sent ×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10712"/>
            <a:ext cx="3383280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547872"/>
            <a:ext cx="3035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B84B"/>
                </a:solidFill>
                <a:latin typeface="Aptos"/>
              </a:rPr>
              <a:t>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849624"/>
            <a:ext cx="303580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Host monotonic send-to-valid-echo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334256"/>
            <a:ext cx="30358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Report mean, p50, p95; compare under same offered 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410712"/>
            <a:ext cx="3383280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3547872"/>
            <a:ext cx="3035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47B881"/>
                </a:solidFill>
                <a:latin typeface="Aptos"/>
              </a:rPr>
              <a:t>CPU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849624"/>
            <a:ext cx="303580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Server process CPU time + Linux CPU 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334256"/>
            <a:ext cx="30358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Report CPU seconds and average utilization separately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5" y="3410712"/>
            <a:ext cx="3383280" cy="1444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7" y="3547872"/>
            <a:ext cx="3035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83650"/>
                </a:solidFill>
                <a:latin typeface="Aptos"/>
              </a:rPr>
              <a:t>INTEGRITY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7" y="3849624"/>
            <a:ext cx="3035808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Sequence, exact length and payload bytes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7" y="4334256"/>
            <a:ext cx="30358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Any corruption / unexpected duplicate is a correctness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257800"/>
            <a:ext cx="10515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637487"/>
                </a:solidFill>
                <a:latin typeface="Aptos"/>
              </a:rPr>
              <a:t>Use the same timer boundary and drain interval for A and B; disclose that loopback throughput includes host and Linux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04  | 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Test matrix and controlled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A small matrix is easier to repeat, audit, and explain in a viva.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73352"/>
            <a:ext cx="1947672" cy="384048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28216"/>
            <a:ext cx="1783080" cy="2926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673352"/>
            <a:ext cx="4315968" cy="384048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728216"/>
            <a:ext cx="4151376" cy="2926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673352"/>
            <a:ext cx="4242816" cy="384048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1728216"/>
            <a:ext cx="4078224" cy="292607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057400"/>
            <a:ext cx="1947672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112264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2057400"/>
            <a:ext cx="4315968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112264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Python baseline vs batched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057400"/>
            <a:ext cx="4242816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1736" y="2112264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Independent variable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487168"/>
            <a:ext cx="1947672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542032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Payload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33472" y="2487168"/>
            <a:ext cx="4315968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2542032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64 B / 512 B / 1472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487168"/>
            <a:ext cx="4242816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2542032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Small, mid-size, near-MTU behavior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2916935"/>
            <a:ext cx="1947672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2971799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Host burst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33472" y="2916935"/>
            <a:ext cx="4315968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2971799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32 datagrams (both versions)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916935"/>
            <a:ext cx="4242816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31736" y="2971799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Creates queue opportunities for batch receive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346703"/>
            <a:ext cx="1947672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3401567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Timed load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3472" y="3346703"/>
            <a:ext cx="4315968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3401567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10 s + identical 1 s reply drain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3346703"/>
            <a:ext cx="4242816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1736" y="3401567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Common throughput window and loss accounting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3776471"/>
            <a:ext cx="1947672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3831335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Socket buffers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33472" y="3776471"/>
            <a:ext cx="4315968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15768" y="3831335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Request 4 MiB; record actual values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776471"/>
            <a:ext cx="4242816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31736" y="3831335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Avoid hidden A/B buffer mismatch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206239"/>
            <a:ext cx="1947672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4261103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Repetitions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33472" y="4206239"/>
            <a:ext cx="4315968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5768" y="4261103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At least 5 paired runs per size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4206239"/>
            <a:ext cx="4242816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31736" y="4261103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Expose run-to-run variability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636007"/>
            <a:ext cx="1947672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4690871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Order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33472" y="4636007"/>
            <a:ext cx="4315968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15768" y="4690871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Alternate Python→C and C→Python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9440" y="4636007"/>
            <a:ext cx="4242816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31736" y="4690871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Reduce warm-up / thermal / time-order bias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5065775"/>
            <a:ext cx="1947672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" y="5120639"/>
            <a:ext cx="1783080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Environment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33472" y="5065775"/>
            <a:ext cx="4315968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15768" y="5120639"/>
            <a:ext cx="4151376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Same wired host, board image, link, port, background load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5065775"/>
            <a:ext cx="4242816" cy="429768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31736" y="5120639"/>
            <a:ext cx="4078224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Hold non-treatment variables constant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" y="5504688"/>
            <a:ext cx="10497312" cy="502920"/>
          </a:xfrm>
          <a:prstGeom prst="roundRect">
            <a:avLst>
              <a:gd name="adj" fmla="val 10000"/>
            </a:avLst>
          </a:prstGeom>
          <a:solidFill>
            <a:srgbClr val="FF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4128" y="5632704"/>
            <a:ext cx="100766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Aptos"/>
              </a:rPr>
              <a:t>Record negotiated Ethernet rate; do not call application goodput “1 Gb/s line rate.”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05  |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Expected change vs verified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Separate the mechanism you implemented from what the data proves.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06324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1792224"/>
            <a:ext cx="289864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Implementation delta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737360"/>
            <a:ext cx="388620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5" y="1792224"/>
            <a:ext cx="372160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Potential benefit (hypothesis)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737360"/>
            <a:ext cx="3547872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71816" y="1792224"/>
            <a:ext cx="3383279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Evidence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76272"/>
            <a:ext cx="3063240" cy="83210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" y="2231136"/>
            <a:ext cx="289864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recvmmsg() receives multiple queued UDP datagrams in one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2176272"/>
            <a:ext cx="3886200" cy="83210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5" y="2231136"/>
            <a:ext cx="372160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Fewer receive syscalls per packet; lower server CPU per datagram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176272"/>
            <a:ext cx="3547872" cy="83210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2231136"/>
            <a:ext cx="3383279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C process CPU + packets/s under matched traffic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08376"/>
            <a:ext cx="3063240" cy="832104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" y="3063240"/>
            <a:ext cx="289864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sendmmsg() sends multiple datagrams in one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008376"/>
            <a:ext cx="3886200" cy="832104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5" y="3063240"/>
            <a:ext cx="372160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Fewer transmit syscalls; higher reply rate at high packet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008376"/>
            <a:ext cx="3547872" cy="832104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6" y="3063240"/>
            <a:ext cx="3383279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Median goodput/replies/s; verify partial-send handling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40480"/>
            <a:ext cx="3063240" cy="83210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" y="3895344"/>
            <a:ext cx="289864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Reusable arrays and buffers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3840480"/>
            <a:ext cx="3886200" cy="83210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5615" y="3895344"/>
            <a:ext cx="372160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Less per-packet setup/allocation work in the loop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840480"/>
            <a:ext cx="3547872" cy="83210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71816" y="3895344"/>
            <a:ext cx="3383279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Code review + CPU / rate data; no payload corruption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672584"/>
            <a:ext cx="3063240" cy="832104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5" y="4727448"/>
            <a:ext cx="289864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One measurement harness for A and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4672584"/>
            <a:ext cx="3886200" cy="832104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85615" y="4727448"/>
            <a:ext cx="3721608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Results become directly comparable and reproducible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4672584"/>
            <a:ext cx="3547872" cy="832104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71816" y="4727448"/>
            <a:ext cx="3383279" cy="7406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Same JSON fields, sequence checks, config and test schedule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" y="5522976"/>
            <a:ext cx="10607040" cy="566928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5669280"/>
            <a:ext cx="10104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Candidate ≠ proven faster. Only board measurements can support an improvement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05  |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How to prove the candidate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Define success before looking at the results.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19072"/>
            <a:ext cx="6720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2024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47088"/>
            <a:ext cx="19568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Correctness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828800"/>
            <a:ext cx="376732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100% exact payload echoes in the integrity test; zero corrupt replies in benchmark.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587752"/>
            <a:ext cx="6720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277063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78892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715768"/>
            <a:ext cx="19568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Performance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697480"/>
            <a:ext cx="376732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Median goodput or valid replies/s improves consistently across paired trials.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456432"/>
            <a:ext cx="6720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363931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65760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584448"/>
            <a:ext cx="19568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Reliability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566160"/>
            <a:ext cx="376732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No unacceptable loss increase; disclose loss and all excluded/failed runs.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325112"/>
            <a:ext cx="6720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" y="450799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526279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453127"/>
            <a:ext cx="195681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Trade-off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4434840"/>
            <a:ext cx="376732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Show RTT and CPU alongside throughput—do not hide regressions.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27264" y="1719072"/>
            <a:ext cx="3493008" cy="3319272"/>
          </a:xfrm>
          <a:prstGeom prst="roundRect">
            <a:avLst>
              <a:gd name="adj" fmla="val 10000"/>
            </a:avLst>
          </a:prstGeom>
          <a:solidFill>
            <a:srgbClr val="E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1975104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0243A"/>
                </a:solidFill>
                <a:latin typeface="Aptos"/>
              </a:rPr>
              <a:t>Report the paired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2615184"/>
            <a:ext cx="2852928" cy="11247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1B5A4"/>
                </a:solidFill>
                <a:latin typeface="Aptos"/>
              </a:rPr>
              <a:t>Improvement % =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1B5A4"/>
                </a:solidFill>
                <a:latin typeface="Aptos"/>
              </a:rPr>
              <a:t>(median_C − median_Python)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1B5A4"/>
                </a:solidFill>
                <a:latin typeface="Aptos"/>
              </a:rPr>
              <a:t>÷ median_Python ×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005072"/>
            <a:ext cx="283464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37487"/>
                </a:solidFill>
                <a:latin typeface="Aptos"/>
              </a:rPr>
              <a:t>For loss, report percentage-point change. Show all repeated values or a box plot—not only the best run.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404104"/>
            <a:ext cx="10287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0786B"/>
                </a:solidFill>
                <a:latin typeface="Aptos"/>
              </a:rPr>
              <a:t>If results are noisy or overlap, conclude “no clear improvement in this setup” and discuss why.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06  | 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Tools and what each one proves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This PS-based project does not need Vivado for its Ethernet data path.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19072"/>
            <a:ext cx="2240280" cy="39319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73936"/>
            <a:ext cx="2075688" cy="301751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3512" y="1719072"/>
            <a:ext cx="4663440" cy="39319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773936"/>
            <a:ext cx="4498848" cy="301751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2" y="1719072"/>
            <a:ext cx="3593592" cy="39319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1773936"/>
            <a:ext cx="3429000" cy="301751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Evidence produced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112264"/>
            <a:ext cx="224028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167128"/>
            <a:ext cx="207568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PYNQ-Z2 + Linux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3512" y="2112264"/>
            <a:ext cx="4663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2167128"/>
            <a:ext cx="449884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Run both servers on ARM/PS GEM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2" y="2112264"/>
            <a:ext cx="359359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2167128"/>
            <a:ext cx="3429000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Board-side behavior and CPU environment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2651760"/>
            <a:ext cx="2240280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2706624"/>
            <a:ext cx="207568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GCC on PYNQ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2651760"/>
            <a:ext cx="4663440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2706624"/>
            <a:ext cx="449884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Build C candidate using documented flags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6952" y="2651760"/>
            <a:ext cx="3593592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2706624"/>
            <a:ext cx="3429000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Compiler and target environment are recorded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3191256"/>
            <a:ext cx="224028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246120"/>
            <a:ext cx="207568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Host Python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3191256"/>
            <a:ext cx="4663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808" y="3246120"/>
            <a:ext cx="449884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Loopback + same load generator for both servers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16952" y="3191256"/>
            <a:ext cx="359359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3246120"/>
            <a:ext cx="3429000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Integrity, sequence counts, RTT and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3730752"/>
            <a:ext cx="2240280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785615"/>
            <a:ext cx="207568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compare_results.py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53512" y="3730752"/>
            <a:ext cx="4663440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3785615"/>
            <a:ext cx="449884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Compute median metrics from JSONL files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16952" y="3730752"/>
            <a:ext cx="3593592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9248" y="3785615"/>
            <a:ext cx="3429000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Reproducible A/B summary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4270248"/>
            <a:ext cx="224028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4325112"/>
            <a:ext cx="207568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top / pidstat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53512" y="4270248"/>
            <a:ext cx="4663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4325112"/>
            <a:ext cx="449884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Observe server CPU under load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16952" y="4270248"/>
            <a:ext cx="359359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4325112"/>
            <a:ext cx="3429000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CPU-use trade-off (if available)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4809744"/>
            <a:ext cx="2240280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4864607"/>
            <a:ext cx="207568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Wireshark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53512" y="4809744"/>
            <a:ext cx="4663440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35808" y="4864607"/>
            <a:ext cx="449884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Capture host Ethernet interface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16952" y="4809744"/>
            <a:ext cx="3593592" cy="539496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99248" y="4864607"/>
            <a:ext cx="3429000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Check ARP, UDP source/destination and packet sizes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" y="5349240"/>
            <a:ext cx="224028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5404103"/>
            <a:ext cx="207568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2B3A"/>
                </a:solidFill>
                <a:latin typeface="Aptos"/>
              </a:rPr>
              <a:t>Git + results/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53512" y="5349240"/>
            <a:ext cx="4663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35808" y="5404103"/>
            <a:ext cx="4498848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Version code, raw logs, configs and report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16952" y="5349240"/>
            <a:ext cx="359359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99248" y="5404103"/>
            <a:ext cx="3429000" cy="4480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B3A"/>
                </a:solidFill>
                <a:latin typeface="Aptos"/>
              </a:rPr>
              <a:t>Reproducibility and review trail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" y="5797296"/>
            <a:ext cx="104973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637487"/>
                </a:solidFill>
                <a:latin typeface="Aptos"/>
              </a:rPr>
              <a:t>Vivado/JTAG is not in scope: it cannot route the onboard PS Ethernet jack into custom PL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06  | 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Execution plan and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A sequence that gets a defensible result before presentation day.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10625328" cy="630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892807"/>
            <a:ext cx="384048" cy="27432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11095"/>
            <a:ext cx="29260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37943"/>
            <a:ext cx="19385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Environment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828800"/>
            <a:ext cx="5074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Boot/network, identify IP and link, verify GCC + Linux APIs.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65376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11B5A4"/>
                </a:solidFill>
                <a:latin typeface="Aptos"/>
              </a:rPr>
              <a:t>Log system versions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523744"/>
            <a:ext cx="10625328" cy="630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2679191"/>
            <a:ext cx="384048" cy="274320"/>
          </a:xfrm>
          <a:prstGeom prst="roundRect">
            <a:avLst>
              <a:gd name="adj" fmla="val 10000"/>
            </a:avLst>
          </a:prstGeom>
          <a:solidFill>
            <a:srgbClr val="5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697479"/>
            <a:ext cx="29260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624327"/>
            <a:ext cx="19385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Build + functional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615184"/>
            <a:ext cx="5074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Compile C server; run exact-echo test against A and 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51760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58C8D2"/>
                </a:solidFill>
                <a:latin typeface="Aptos"/>
              </a:rPr>
              <a:t>Save commands/logs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310128"/>
            <a:ext cx="10625328" cy="630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3465576"/>
            <a:ext cx="384048" cy="274320"/>
          </a:xfrm>
          <a:prstGeom prst="roundRect">
            <a:avLst>
              <a:gd name="adj" fmla="val 10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483864"/>
            <a:ext cx="29260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10712"/>
            <a:ext cx="19385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401568"/>
            <a:ext cx="5074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3 payload sizes × 5+ repeats × alternating A/B order.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438144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F2B84B"/>
                </a:solidFill>
                <a:latin typeface="Aptos"/>
              </a:rPr>
              <a:t>Save JSONL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096512"/>
            <a:ext cx="10625328" cy="630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4251960"/>
            <a:ext cx="384048" cy="274320"/>
          </a:xfrm>
          <a:prstGeom prst="roundRect">
            <a:avLst>
              <a:gd name="adj" fmla="val 10000"/>
            </a:avLst>
          </a:prstGeom>
          <a:solidFill>
            <a:srgbClr val="47B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4270248"/>
            <a:ext cx="29260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197096"/>
            <a:ext cx="19385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4187952"/>
            <a:ext cx="5074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Compare medians, run-to-run spread, loss, RTT and CPU.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224528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47B881"/>
                </a:solidFill>
                <a:latin typeface="Aptos"/>
              </a:rPr>
              <a:t>Create figures/table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882896"/>
            <a:ext cx="10625328" cy="6309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688" y="5038344"/>
            <a:ext cx="384048" cy="274320"/>
          </a:xfrm>
          <a:prstGeom prst="roundRect">
            <a:avLst>
              <a:gd name="adj" fmla="val 10000"/>
            </a:avLst>
          </a:prstGeom>
          <a:solidFill>
            <a:srgbClr val="F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5056631"/>
            <a:ext cx="29260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243A"/>
                </a:solidFill>
                <a:latin typeface="Aptos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983480"/>
            <a:ext cx="193852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Conclude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3008" y="4974336"/>
            <a:ext cx="5074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Explain whether batching helped on this setup and limitations.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5010912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F0786B"/>
                </a:solidFill>
                <a:latin typeface="Aptos"/>
              </a:rPr>
              <a:t>Complete results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07  |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Results slide: fill only after board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No board measurements are available yet. This slide is a reporting template, not a result.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48088" y="338328"/>
            <a:ext cx="1325880" cy="274320"/>
          </a:xfrm>
          <a:prstGeom prst="roundRect">
            <a:avLst>
              <a:gd name="adj" fmla="val 10000"/>
            </a:avLst>
          </a:prstGeom>
          <a:solidFill>
            <a:srgbClr val="F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356616"/>
            <a:ext cx="12344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DATA PENDING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46504"/>
            <a:ext cx="109728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5" y="1801368"/>
            <a:ext cx="93268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Payload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1746504"/>
            <a:ext cx="192024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9656" y="1801368"/>
            <a:ext cx="175564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746504"/>
            <a:ext cx="1938528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1801368"/>
            <a:ext cx="1773936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Median replies/s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1746504"/>
            <a:ext cx="160020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78424" y="1801368"/>
            <a:ext cx="143560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Goodput Mbps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6328" y="1746504"/>
            <a:ext cx="123444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1801368"/>
            <a:ext cx="106984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Loss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1746504"/>
            <a:ext cx="150876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1801368"/>
            <a:ext cx="134416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p95 RTT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39528" y="1746504"/>
            <a:ext cx="1005840" cy="438912"/>
          </a:xfrm>
          <a:prstGeom prst="rect">
            <a:avLst/>
          </a:prstGeom>
          <a:solidFill>
            <a:srgbClr val="10243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1824" y="1801368"/>
            <a:ext cx="84124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CPU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185416"/>
            <a:ext cx="10972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5" y="2240280"/>
            <a:ext cx="93268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64 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2185416"/>
            <a:ext cx="1920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9656" y="2240280"/>
            <a:ext cx="17556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Python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185416"/>
            <a:ext cx="1938528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9896" y="2240280"/>
            <a:ext cx="1773936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96128" y="2185416"/>
            <a:ext cx="16002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78424" y="2240280"/>
            <a:ext cx="143560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96328" y="2185416"/>
            <a:ext cx="12344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4" y="2240280"/>
            <a:ext cx="10698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0768" y="2185416"/>
            <a:ext cx="15087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3064" y="2240280"/>
            <a:ext cx="134416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9528" y="2185416"/>
            <a:ext cx="10058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21824" y="2240280"/>
            <a:ext cx="8412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688336"/>
            <a:ext cx="109728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5" y="2743200"/>
            <a:ext cx="93268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64 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2688336"/>
            <a:ext cx="19202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19656" y="2743200"/>
            <a:ext cx="17556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Batched 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2688336"/>
            <a:ext cx="1938528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39896" y="2743200"/>
            <a:ext cx="1773936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96128" y="2688336"/>
            <a:ext cx="160020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78424" y="2743200"/>
            <a:ext cx="143560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96328" y="2688336"/>
            <a:ext cx="12344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8624" y="2743200"/>
            <a:ext cx="10698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30768" y="2688336"/>
            <a:ext cx="150876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13064" y="2743200"/>
            <a:ext cx="134416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39528" y="2688336"/>
            <a:ext cx="10058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21824" y="2743200"/>
            <a:ext cx="8412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191256"/>
            <a:ext cx="10972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5" y="3246120"/>
            <a:ext cx="93268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512 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37360" y="3191256"/>
            <a:ext cx="1920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19656" y="3246120"/>
            <a:ext cx="17556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Python baseline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3191256"/>
            <a:ext cx="1938528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39896" y="3246120"/>
            <a:ext cx="1773936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96128" y="3191256"/>
            <a:ext cx="16002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78424" y="3246120"/>
            <a:ext cx="143560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96328" y="3191256"/>
            <a:ext cx="12344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78624" y="3246120"/>
            <a:ext cx="10698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30768" y="3191256"/>
            <a:ext cx="15087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13064" y="3246120"/>
            <a:ext cx="134416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39528" y="3191256"/>
            <a:ext cx="10058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21824" y="3246120"/>
            <a:ext cx="8412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694176"/>
            <a:ext cx="109728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2375" y="3749039"/>
            <a:ext cx="93268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512 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37360" y="3694176"/>
            <a:ext cx="19202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19656" y="3749039"/>
            <a:ext cx="17556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Batched 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3694176"/>
            <a:ext cx="1938528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39896" y="3749039"/>
            <a:ext cx="1773936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96128" y="3694176"/>
            <a:ext cx="160020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78424" y="3749039"/>
            <a:ext cx="143560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96328" y="3694176"/>
            <a:ext cx="12344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78624" y="3749039"/>
            <a:ext cx="10698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30768" y="3694176"/>
            <a:ext cx="150876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13064" y="3749039"/>
            <a:ext cx="134416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39528" y="3694176"/>
            <a:ext cx="10058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21824" y="3749039"/>
            <a:ext cx="8412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4197096"/>
            <a:ext cx="10972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2375" y="4251959"/>
            <a:ext cx="93268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1472 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737360" y="4197096"/>
            <a:ext cx="1920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819656" y="4251959"/>
            <a:ext cx="17556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Python baseline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0" y="4197096"/>
            <a:ext cx="1938528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39896" y="4251959"/>
            <a:ext cx="1773936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96128" y="4197096"/>
            <a:ext cx="16002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78424" y="4251959"/>
            <a:ext cx="143560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96328" y="4197096"/>
            <a:ext cx="12344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78624" y="4251959"/>
            <a:ext cx="10698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430768" y="4197096"/>
            <a:ext cx="15087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13064" y="4251959"/>
            <a:ext cx="134416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39528" y="4197096"/>
            <a:ext cx="10058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21824" y="4251959"/>
            <a:ext cx="8412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" y="4700016"/>
            <a:ext cx="109728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2375" y="4754879"/>
            <a:ext cx="93268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D2B3A"/>
                </a:solidFill>
                <a:latin typeface="Aptos"/>
              </a:rPr>
              <a:t>1472 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737360" y="4700016"/>
            <a:ext cx="19202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19656" y="4754879"/>
            <a:ext cx="17556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Batched 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57600" y="4700016"/>
            <a:ext cx="1938528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39896" y="4754879"/>
            <a:ext cx="1773936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96128" y="4700016"/>
            <a:ext cx="160020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78424" y="4754879"/>
            <a:ext cx="143560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96328" y="4700016"/>
            <a:ext cx="12344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78624" y="4754879"/>
            <a:ext cx="10698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30768" y="4700016"/>
            <a:ext cx="150876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13064" y="4754879"/>
            <a:ext cx="134416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939528" y="4700016"/>
            <a:ext cx="1005840" cy="502920"/>
          </a:xfrm>
          <a:prstGeom prst="rect">
            <a:avLst/>
          </a:prstGeom>
          <a:solidFill>
            <a:srgbClr val="EAF2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021824" y="4754879"/>
            <a:ext cx="841248" cy="4114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B3A"/>
                </a:solidFill>
                <a:latin typeface="Aptos"/>
              </a:rPr>
              <a:t>—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32104" y="5468112"/>
            <a:ext cx="10424160" cy="603504"/>
          </a:xfrm>
          <a:prstGeom prst="roundRect">
            <a:avLst>
              <a:gd name="adj" fmla="val 10000"/>
            </a:avLst>
          </a:prstGeom>
          <a:solidFill>
            <a:srgbClr val="FF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51560" y="5623560"/>
            <a:ext cx="9985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0243A"/>
                </a:solidFill>
                <a:latin typeface="Aptos"/>
              </a:rPr>
              <a:t>Do not report localhost smoke-test values as PYNQ-Z2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07  |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Limitations to acknowledge in the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Clear limitations strengthen the credibility of the conclusion.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46504"/>
            <a:ext cx="3374136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46504"/>
            <a:ext cx="64008" cy="1389888"/>
          </a:xfrm>
          <a:prstGeom prst="rect">
            <a:avLst/>
          </a:prstGeom>
          <a:solidFill>
            <a:srgbClr val="F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92808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Not raw Ethernet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58568"/>
            <a:ext cx="3044952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Application goodput includes host, kernel, driver and socket costs.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46504"/>
            <a:ext cx="3374136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46504"/>
            <a:ext cx="64008" cy="1389888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892808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Linux version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258568"/>
            <a:ext cx="3044952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recvmmsg/sendmmsg availability and implementation depend on the board image/kernel.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1746504"/>
            <a:ext cx="3374136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5" y="1746504"/>
            <a:ext cx="64008" cy="1389888"/>
          </a:xfrm>
          <a:prstGeom prst="rect">
            <a:avLst/>
          </a:prstGeom>
          <a:solidFill>
            <a:srgbClr val="5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5" y="1892808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Host can 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5" y="2258568"/>
            <a:ext cx="3044952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A saturated generator or receiver can hide server differences.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64992"/>
            <a:ext cx="3374136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64992"/>
            <a:ext cx="64008" cy="138988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511296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Burst size changes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877056"/>
            <a:ext cx="3044952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Fixed host burst may favor batching; disclose and test additional burst settings if time permits.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364992"/>
            <a:ext cx="3374136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364992"/>
            <a:ext cx="64008" cy="1389888"/>
          </a:xfrm>
          <a:prstGeom prst="rect">
            <a:avLst/>
          </a:prstGeom>
          <a:solidFill>
            <a:srgbClr val="47B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511296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One board is one sample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877056"/>
            <a:ext cx="3044952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Conclusions apply to this hardware/software configuration, not every Linux system.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5" y="3364992"/>
            <a:ext cx="3374136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55" y="3364992"/>
            <a:ext cx="64008" cy="1389888"/>
          </a:xfrm>
          <a:prstGeom prst="rect">
            <a:avLst/>
          </a:prstGeom>
          <a:solidFill>
            <a:srgbClr val="18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5" y="3511296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CPU metrics differ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5" y="3877056"/>
            <a:ext cx="3044952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37487"/>
                </a:solidFill>
                <a:latin typeface="Aptos"/>
              </a:rPr>
              <a:t>Process CPU time and system-wide utilization are different; label the measurement method.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230368"/>
            <a:ext cx="105613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0243A"/>
                </a:solidFill>
                <a:latin typeface="Aptos"/>
              </a:rPr>
              <a:t>A useful result can be “no measurable benefit under this offered load”—that still answers the research question.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1B5A4"/>
                </a:solidFill>
                <a:latin typeface="Aptos"/>
              </a:rPr>
              <a:t>08  | 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09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 i="0">
                <a:solidFill>
                  <a:srgbClr val="10243A"/>
                </a:solidFill>
                <a:latin typeface="Aptos"/>
              </a:rPr>
              <a:t>Take-away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7487"/>
                </a:solidFill>
                <a:latin typeface="Aptos"/>
              </a:rPr>
              <a:t>What makes the project stronger is the experimental design and honest evidence—not a promised speedup.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016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47104"/>
            <a:ext cx="6949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37487"/>
                </a:solidFill>
                <a:latin typeface="Aptos"/>
              </a:rPr>
              <a:t>PYNQ-Z2  |  PS UDP performance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2881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637487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719072"/>
            <a:ext cx="3977639" cy="3584448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84248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8C8D2"/>
                </a:solidFill>
                <a:latin typeface="Aptos"/>
              </a:rPr>
              <a:t>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50592"/>
            <a:ext cx="3401568" cy="2331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Keep the board and network path fixed.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Change Python per-packet I/O to Linux C batched I/O.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Prove correctness first; then compare rate, loss, latency and CPU over repeated runs.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864608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2B84B"/>
                </a:solidFill>
                <a:latin typeface="Aptos"/>
              </a:rPr>
              <a:t>No improvement is claimed until board data supports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773936"/>
            <a:ext cx="6080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1B5A4"/>
                </a:solidFill>
                <a:latin typeface="Aptos"/>
              </a:rPr>
              <a:t>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2331720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2221992"/>
            <a:ext cx="5916168" cy="27214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B3A"/>
                </a:solidFill>
                <a:latin typeface="Aptos"/>
              </a:rPr>
              <a:t>[1] Python socket API — docs.python.org/3/library/socket.html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2624" y="2756262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2646534"/>
            <a:ext cx="5916168" cy="27214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B3A"/>
                </a:solidFill>
                <a:latin typeface="Aptos"/>
              </a:rPr>
              <a:t>[2] Linux recvmmsg(2) — man7.org/linux/man-pages/man2/recvmmsg.2.html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2624" y="3180805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3071077"/>
            <a:ext cx="5916168" cy="27214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B3A"/>
                </a:solidFill>
                <a:latin typeface="Aptos"/>
              </a:rPr>
              <a:t>[3] Linux sendmmsg(2) — man7.org/linux/man-pages/man2/sendmmsg.2.html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3605348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4" y="3495620"/>
            <a:ext cx="5916168" cy="27214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B3A"/>
                </a:solidFill>
                <a:latin typeface="Aptos"/>
              </a:rPr>
              <a:t>[4] Linux NAPI — docs.kernel.org/networking/napi.html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4029891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5504" y="3920163"/>
            <a:ext cx="5916168" cy="27214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B3A"/>
                </a:solidFill>
                <a:latin typeface="Aptos"/>
              </a:rPr>
              <a:t>[5] PYNQ introduction — pynq.readthedocs.io/en/latest/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92624" y="4454434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5504" y="4344706"/>
            <a:ext cx="5916168" cy="27214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B3A"/>
                </a:solidFill>
                <a:latin typeface="Aptos"/>
              </a:rPr>
              <a:t>[6] RFC 2544 — rfc-editor.org/rfc/rfc2544 (methodology inspiration; this is not RFC2544 compliance)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92624" y="4878977"/>
            <a:ext cx="91440" cy="91440"/>
          </a:xfrm>
          <a:prstGeom prst="roundRect">
            <a:avLst>
              <a:gd name="adj" fmla="val 10000"/>
            </a:avLst>
          </a:prstGeom>
          <a:solidFill>
            <a:srgbClr val="11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4769249"/>
            <a:ext cx="5916168" cy="27214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B3A"/>
                </a:solidFill>
                <a:latin typeface="Aptos"/>
              </a:rPr>
              <a:t>[7] AMD UG585 — docs.amd.com/v/u/en-US/ug585-Zynq-7000-TRM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6" y="5404104"/>
            <a:ext cx="6080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637487"/>
                </a:solidFill>
                <a:latin typeface="Aptos"/>
              </a:rPr>
              <a:t>Sources accessed 7 Oct 2026. Platform-specific facts and all performance values should be verified against the actual board image and measurements.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 vs PS: UDP Server Performance on PYNQ-Z2</dc:title>
  <dc:subject>Literature survey, methodology, tools, components, and proof plan</dc:subject>
  <dc:creator>Project proposal</dc:creator>
  <cp:keywords>PYNQ-Z2, Zynq, UDP, Linux, recvmmsg, sendmmsg, benchmark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